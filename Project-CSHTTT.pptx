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handoutMasterIdLst>
    <p:handoutMasterId r:id="rId34"/>
  </p:handoutMasterIdLst>
  <p:sldIdLst>
    <p:sldId id="259" r:id="rId5"/>
    <p:sldId id="256" r:id="rId6"/>
    <p:sldId id="268" r:id="rId7"/>
    <p:sldId id="260" r:id="rId8"/>
    <p:sldId id="258" r:id="rId9"/>
    <p:sldId id="269" r:id="rId10"/>
    <p:sldId id="274" r:id="rId11"/>
    <p:sldId id="264" r:id="rId12"/>
    <p:sldId id="283" r:id="rId13"/>
    <p:sldId id="284" r:id="rId14"/>
    <p:sldId id="294" r:id="rId15"/>
    <p:sldId id="289" r:id="rId16"/>
    <p:sldId id="278" r:id="rId17"/>
    <p:sldId id="273" r:id="rId18"/>
    <p:sldId id="295" r:id="rId19"/>
    <p:sldId id="279" r:id="rId20"/>
    <p:sldId id="280" r:id="rId21"/>
    <p:sldId id="297" r:id="rId22"/>
    <p:sldId id="272" r:id="rId23"/>
    <p:sldId id="298" r:id="rId24"/>
    <p:sldId id="299" r:id="rId25"/>
    <p:sldId id="266" r:id="rId26"/>
    <p:sldId id="282" r:id="rId27"/>
    <p:sldId id="290" r:id="rId28"/>
    <p:sldId id="293" r:id="rId29"/>
    <p:sldId id="292" r:id="rId30"/>
    <p:sldId id="296" r:id="rId31"/>
    <p:sldId id="26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17EF71-5DAD-1712-8559-CB452E5C5630}" v="38" dt="2026-06-02T04:25:19.563"/>
    <p1510:client id="{A1D9E244-19D4-DE79-EF6F-7C51C8DBCB5C}" v="45" dt="2026-06-02T05:52:46.045"/>
    <p1510:client id="{BEA46B04-7AB0-D467-40B8-EADCAD13A25F}" v="3" dt="2026-06-02T03:50:36.6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6/1/2026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6/1/2026</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6/1/2026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6/1/2026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6/1/2026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6/1/2026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6/1/2026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6/1/2026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6/1/2026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6/1/2026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6/1/2026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6/1/2026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642BA63-383F-45B9-939A-7A3B792A60C4}"/>
              </a:ext>
            </a:extLst>
          </p:cNvPr>
          <p:cNvSpPr>
            <a:spLocks noGrp="1"/>
          </p:cNvSpPr>
          <p:nvPr>
            <p:ph type="title"/>
          </p:nvPr>
        </p:nvSpPr>
        <p:spPr>
          <a:xfrm>
            <a:off x="3788898" y="2461846"/>
            <a:ext cx="4614203" cy="1934307"/>
          </a:xfrm>
        </p:spPr>
        <p:txBody>
          <a:bodyPr/>
          <a:lstStyle/>
          <a:p>
            <a:endParaRPr lang="en-US"/>
          </a:p>
        </p:txBody>
      </p:sp>
    </p:spTree>
    <p:extLst>
      <p:ext uri="{BB962C8B-B14F-4D97-AF65-F5344CB8AC3E}">
        <p14:creationId xmlns:p14="http://schemas.microsoft.com/office/powerpoint/2010/main" val="123400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532CC-6BC1-DE4F-72C0-A5ACC26E6994}"/>
            </a:ext>
          </a:extLst>
        </p:cNvPr>
        <p:cNvGrpSpPr/>
        <p:nvPr/>
      </p:nvGrpSpPr>
      <p:grpSpPr>
        <a:xfrm>
          <a:off x="0" y="0"/>
          <a:ext cx="0" cy="0"/>
          <a:chOff x="0" y="0"/>
          <a:chExt cx="0" cy="0"/>
        </a:xfrm>
      </p:grpSpPr>
      <p:pic>
        <p:nvPicPr>
          <p:cNvPr id="2" name="Picture 3">
            <a:extLst>
              <a:ext uri="{FF2B5EF4-FFF2-40B4-BE49-F238E27FC236}">
                <a16:creationId xmlns:a16="http://schemas.microsoft.com/office/drawing/2014/main" id="{B99FC092-E1A7-14C3-0BA9-1A9A77DA827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9F93A67F-FE85-70B7-9C3F-7C20BDC583D8}"/>
              </a:ext>
            </a:extLst>
          </p:cNvPr>
          <p:cNvSpPr txBox="1">
            <a:spLocks/>
          </p:cNvSpPr>
          <p:nvPr/>
        </p:nvSpPr>
        <p:spPr>
          <a:xfrm>
            <a:off x="386634" y="1430832"/>
            <a:ext cx="10316195" cy="2780373"/>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b="0">
                <a:solidFill>
                  <a:srgbClr val="FF0000"/>
                </a:solidFill>
                <a:latin typeface="Lato"/>
                <a:ea typeface="Lato"/>
                <a:cs typeface="Lato"/>
              </a:rPr>
              <a:t>Simulate and Analyze </a:t>
            </a:r>
            <a:endParaRPr lang="en-US" sz="6000">
              <a:solidFill>
                <a:srgbClr val="FF0000"/>
              </a:solidFill>
            </a:endParaRPr>
          </a:p>
          <a:p>
            <a:r>
              <a:rPr lang="en-US" sz="6000" b="0">
                <a:solidFill>
                  <a:srgbClr val="FF0000"/>
                </a:solidFill>
                <a:latin typeface="Lato"/>
                <a:ea typeface="Lato"/>
                <a:cs typeface="Lato"/>
              </a:rPr>
              <a:t>a Digital Communication System using </a:t>
            </a:r>
            <a:r>
              <a:rPr lang="en-US" sz="6000" b="0" err="1">
                <a:solidFill>
                  <a:srgbClr val="FF0000"/>
                </a:solidFill>
                <a:latin typeface="Lato"/>
                <a:ea typeface="Lato"/>
                <a:cs typeface="Lato"/>
              </a:rPr>
              <a:t>Matlab</a:t>
            </a:r>
            <a:endParaRPr lang="en-US" sz="6000">
              <a:solidFill>
                <a:srgbClr val="FF0000"/>
              </a:solidFill>
            </a:endParaRPr>
          </a:p>
          <a:p>
            <a:endParaRPr lang="en-US" sz="6000">
              <a:solidFill>
                <a:srgbClr val="FF0000"/>
              </a:solidFill>
            </a:endParaRPr>
          </a:p>
        </p:txBody>
      </p:sp>
      <p:sp>
        <p:nvSpPr>
          <p:cNvPr id="4" name="Title 6">
            <a:extLst>
              <a:ext uri="{FF2B5EF4-FFF2-40B4-BE49-F238E27FC236}">
                <a16:creationId xmlns:a16="http://schemas.microsoft.com/office/drawing/2014/main" id="{236F4C26-2F64-419F-EDD0-F99DFFAED400}"/>
              </a:ext>
            </a:extLst>
          </p:cNvPr>
          <p:cNvSpPr txBox="1">
            <a:spLocks/>
          </p:cNvSpPr>
          <p:nvPr/>
        </p:nvSpPr>
        <p:spPr>
          <a:xfrm>
            <a:off x="386634" y="4508399"/>
            <a:ext cx="10018631" cy="848793"/>
          </a:xfrm>
          <a:prstGeom prst="rect">
            <a:avLst/>
          </a:prstGeom>
        </p:spPr>
        <p:txBody>
          <a:bodyPr lIns="91440" tIns="45720" rIns="91440" bIns="45720" anchor="t"/>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b="0">
                <a:latin typeface="Lato"/>
                <a:ea typeface="Lato"/>
                <a:cs typeface="Lato"/>
              </a:rPr>
              <a:t>Instructor: Prof. Nguyễn Văn Đức</a:t>
            </a:r>
          </a:p>
        </p:txBody>
      </p:sp>
      <p:sp>
        <p:nvSpPr>
          <p:cNvPr id="9" name="Slide Number Placeholder 8">
            <a:extLst>
              <a:ext uri="{FF2B5EF4-FFF2-40B4-BE49-F238E27FC236}">
                <a16:creationId xmlns:a16="http://schemas.microsoft.com/office/drawing/2014/main" id="{1E94B12A-4E4F-76AF-DE4C-06F726D2924E}"/>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2103335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p:txBody>
          <a:bodyPr lIns="91440" tIns="45720" rIns="91440" bIns="45720" anchor="t"/>
          <a:lstStyle/>
          <a:p>
            <a:r>
              <a:rPr lang="en-US">
                <a:latin typeface="Lato"/>
                <a:ea typeface="Lato"/>
                <a:cs typeface="Lato"/>
              </a:rPr>
              <a:t>CONTENT</a:t>
            </a:r>
            <a:endParaRPr lang="en-US"/>
          </a:p>
        </p:txBody>
      </p:sp>
      <p:sp>
        <p:nvSpPr>
          <p:cNvPr id="3" name="Content Placeholder 2">
            <a:extLst>
              <a:ext uri="{FF2B5EF4-FFF2-40B4-BE49-F238E27FC236}">
                <a16:creationId xmlns:a16="http://schemas.microsoft.com/office/drawing/2014/main" id="{3573E091-9DCD-4DE7-96D1-A93E44E0F5B9}"/>
              </a:ext>
            </a:extLst>
          </p:cNvPr>
          <p:cNvSpPr>
            <a:spLocks noGrp="1"/>
          </p:cNvSpPr>
          <p:nvPr>
            <p:ph sz="quarter" idx="13"/>
          </p:nvPr>
        </p:nvSpPr>
        <p:spPr/>
        <p:txBody>
          <a:bodyPr lIns="91440" tIns="45720" rIns="91440" bIns="45720" anchor="t"/>
          <a:lstStyle/>
          <a:p>
            <a:pPr marL="514350" indent="-514350">
              <a:buAutoNum type="arabicPeriod"/>
            </a:pPr>
            <a:r>
              <a:rPr lang="en-US">
                <a:latin typeface="Lato"/>
                <a:ea typeface="Lato"/>
                <a:cs typeface="Lato"/>
              </a:rPr>
              <a:t>Introduction</a:t>
            </a:r>
            <a:endParaRPr lang="en-US"/>
          </a:p>
          <a:p>
            <a:pPr marL="514350" indent="-514350">
              <a:buAutoNum type="arabicPeriod"/>
            </a:pPr>
            <a:r>
              <a:rPr lang="en-US">
                <a:latin typeface="Lato"/>
                <a:ea typeface="Lato"/>
                <a:cs typeface="Lato"/>
              </a:rPr>
              <a:t>Method</a:t>
            </a:r>
            <a:endParaRPr lang="en-US"/>
          </a:p>
          <a:p>
            <a:pPr marL="514350" indent="-514350">
              <a:buAutoNum type="arabicPeriod"/>
            </a:pPr>
            <a:r>
              <a:rPr lang="en-US">
                <a:latin typeface="Lato"/>
                <a:ea typeface="Lato"/>
                <a:cs typeface="Lato"/>
              </a:rPr>
              <a:t>Experimental results</a:t>
            </a:r>
          </a:p>
          <a:p>
            <a:pPr marL="514350" indent="-514350">
              <a:buAutoNum type="arabicPeriod"/>
            </a:pPr>
            <a:r>
              <a:rPr lang="en-US">
                <a:latin typeface="Lato"/>
                <a:ea typeface="Lato"/>
                <a:cs typeface="Lato"/>
              </a:rPr>
              <a:t>Conclusion</a:t>
            </a:r>
            <a:endParaRPr lang="en-US"/>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fld id="{9EA0BE3B-158A-4EDF-80DC-E394A0D1600F}" type="slidenum">
              <a:rPr lang="en-US" smtClean="0"/>
              <a:pPr/>
              <a:t>4</a:t>
            </a:fld>
            <a:endParaRPr lang="en-US"/>
          </a:p>
        </p:txBody>
      </p:sp>
    </p:spTree>
    <p:extLst>
      <p:ext uri="{BB962C8B-B14F-4D97-AF65-F5344CB8AC3E}">
        <p14:creationId xmlns:p14="http://schemas.microsoft.com/office/powerpoint/2010/main" val="221433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lIns="91440" tIns="45720" rIns="91440" bIns="45720" anchor="t"/>
          <a:lstStyle/>
          <a:p>
            <a:pPr marL="514350" indent="-514350">
              <a:buAutoNum type="arabicPeriod"/>
            </a:pPr>
            <a:r>
              <a:rPr lang="en-US">
                <a:latin typeface="Lato"/>
                <a:ea typeface="Lato"/>
                <a:cs typeface="Lato"/>
              </a:rPr>
              <a:t>INTRODUCTION</a:t>
            </a:r>
            <a:endParaRPr lang="en-US"/>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a:xfrm>
            <a:off x="337539" y="1032510"/>
            <a:ext cx="11515820" cy="4938713"/>
          </a:xfrm>
        </p:spPr>
        <p:txBody>
          <a:bodyPr lIns="91440" tIns="45720" rIns="91440" bIns="45720" anchor="t"/>
          <a:lstStyle/>
          <a:p>
            <a:pPr marL="0" indent="0">
              <a:buNone/>
            </a:pPr>
            <a:r>
              <a:rPr lang="en-US" sz="4000">
                <a:latin typeface="Lato"/>
                <a:ea typeface="Lato"/>
                <a:cs typeface="Lato"/>
              </a:rPr>
              <a:t>Our goals:</a:t>
            </a:r>
            <a:endParaRPr lang="en-US" sz="4000"/>
          </a:p>
          <a:p>
            <a:r>
              <a:rPr lang="en-US" sz="4000">
                <a:latin typeface="Lato"/>
                <a:ea typeface="Lato"/>
                <a:cs typeface="Lato"/>
              </a:rPr>
              <a:t>Designed and simulated a digital communication system using </a:t>
            </a:r>
          </a:p>
          <a:p>
            <a:pPr lvl="1">
              <a:buFont typeface="Courier New" panose="020B0604020202020204" pitchFamily="34" charset="0"/>
              <a:buChar char="o"/>
            </a:pPr>
            <a:r>
              <a:rPr lang="en-US" sz="3600">
                <a:latin typeface="Lato"/>
                <a:ea typeface="Lato"/>
                <a:cs typeface="Lato"/>
              </a:rPr>
              <a:t>QPSK modulation/demodulation</a:t>
            </a:r>
          </a:p>
          <a:p>
            <a:pPr lvl="1">
              <a:buFont typeface="Courier New" panose="020B0604020202020204" pitchFamily="34" charset="0"/>
              <a:buChar char="o"/>
            </a:pPr>
            <a:r>
              <a:rPr lang="en-US" sz="3600">
                <a:latin typeface="Lato"/>
                <a:ea typeface="Lato"/>
                <a:cs typeface="Lato"/>
              </a:rPr>
              <a:t>LDPC coding/decoding </a:t>
            </a:r>
            <a:endParaRPr lang="en-US" sz="3600"/>
          </a:p>
          <a:p>
            <a:pPr lvl="1">
              <a:buFont typeface="Courier New" panose="020B0604020202020204" pitchFamily="34" charset="0"/>
              <a:buChar char="o"/>
            </a:pPr>
            <a:r>
              <a:rPr lang="en-US" sz="3600">
                <a:latin typeface="Lato"/>
                <a:ea typeface="Lato"/>
                <a:cs typeface="Lato"/>
              </a:rPr>
              <a:t>AWGN and Rayleigh fading channel. </a:t>
            </a:r>
            <a:endParaRPr lang="en-US" sz="3600"/>
          </a:p>
          <a:p>
            <a:r>
              <a:rPr lang="en-US" sz="4000">
                <a:latin typeface="Lato"/>
                <a:ea typeface="Lato"/>
                <a:cs typeface="Lato"/>
              </a:rPr>
              <a:t>Analyzed system performance through BER.</a:t>
            </a:r>
          </a:p>
          <a:p>
            <a:pPr marL="0" indent="0">
              <a:buNone/>
            </a:pPr>
            <a:endParaRPr lang="en-US">
              <a:latin typeface="Lato"/>
              <a:ea typeface="Lato"/>
              <a:cs typeface="Lato"/>
            </a:endParaRPr>
          </a:p>
          <a:p>
            <a:endParaRPr lang="en-US">
              <a:latin typeface="Lato"/>
              <a:ea typeface="Lato"/>
              <a:cs typeface="Lato"/>
            </a:endParaRPr>
          </a:p>
          <a:p>
            <a:pPr>
              <a:buFont typeface="Calibri" panose="020B0604020202020204" pitchFamily="34" charset="0"/>
              <a:buChar char="-"/>
            </a:pPr>
            <a:endParaRPr lang="en-US">
              <a:latin typeface="Lato"/>
              <a:ea typeface="Lato"/>
              <a:cs typeface="Lato"/>
            </a:endParaRP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5</a:t>
            </a:fld>
            <a:endParaRPr lang="en-US"/>
          </a:p>
        </p:txBody>
      </p:sp>
    </p:spTree>
    <p:extLst>
      <p:ext uri="{BB962C8B-B14F-4D97-AF65-F5344CB8AC3E}">
        <p14:creationId xmlns:p14="http://schemas.microsoft.com/office/powerpoint/2010/main" val="350595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ACB5-3420-22F3-BB9E-9569FA97EAFC}"/>
              </a:ext>
            </a:extLst>
          </p:cNvPr>
          <p:cNvSpPr>
            <a:spLocks noGrp="1"/>
          </p:cNvSpPr>
          <p:nvPr>
            <p:ph type="title"/>
          </p:nvPr>
        </p:nvSpPr>
        <p:spPr/>
        <p:txBody>
          <a:bodyPr lIns="91440" tIns="45720" rIns="91440" bIns="45720" anchor="t"/>
          <a:lstStyle/>
          <a:p>
            <a:pPr marL="514350" indent="-514350">
              <a:buAutoNum type="arabicPeriod"/>
            </a:pPr>
            <a:r>
              <a:rPr lang="en-US">
                <a:latin typeface="Lato"/>
                <a:ea typeface="Lato"/>
                <a:cs typeface="Lato"/>
              </a:rPr>
              <a:t>INTRODUCTION</a:t>
            </a:r>
            <a:endParaRPr lang="en-US"/>
          </a:p>
        </p:txBody>
      </p:sp>
      <p:sp>
        <p:nvSpPr>
          <p:cNvPr id="3" name="Text Placeholder 2">
            <a:extLst>
              <a:ext uri="{FF2B5EF4-FFF2-40B4-BE49-F238E27FC236}">
                <a16:creationId xmlns:a16="http://schemas.microsoft.com/office/drawing/2014/main" id="{596B61DC-F3AC-37FD-3012-C683AF1AF8B4}"/>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82931C0F-ECB6-8319-4A40-9E5AD1CFF6EB}"/>
              </a:ext>
            </a:extLst>
          </p:cNvPr>
          <p:cNvSpPr>
            <a:spLocks noGrp="1"/>
          </p:cNvSpPr>
          <p:nvPr>
            <p:ph type="sldNum" sz="quarter" idx="12"/>
          </p:nvPr>
        </p:nvSpPr>
        <p:spPr/>
        <p:txBody>
          <a:bodyPr/>
          <a:lstStyle/>
          <a:p>
            <a:fld id="{9EA0BE3B-158A-4EDF-80DC-E394A0D1600F}" type="slidenum">
              <a:rPr lang="en-US" smtClean="0"/>
              <a:pPr/>
              <a:t>6</a:t>
            </a:fld>
            <a:endParaRPr lang="en-US"/>
          </a:p>
        </p:txBody>
      </p:sp>
      <p:pic>
        <p:nvPicPr>
          <p:cNvPr id="5" name="Picture 4" descr="A diagram of a computer system&#10;&#10;AI-generated content may be incorrect.">
            <a:extLst>
              <a:ext uri="{FF2B5EF4-FFF2-40B4-BE49-F238E27FC236}">
                <a16:creationId xmlns:a16="http://schemas.microsoft.com/office/drawing/2014/main" id="{509182A5-E39C-D77D-D6C5-184D9D8F882F}"/>
              </a:ext>
            </a:extLst>
          </p:cNvPr>
          <p:cNvPicPr>
            <a:picLocks noChangeAspect="1"/>
          </p:cNvPicPr>
          <p:nvPr/>
        </p:nvPicPr>
        <p:blipFill>
          <a:blip r:embed="rId2"/>
          <a:stretch>
            <a:fillRect/>
          </a:stretch>
        </p:blipFill>
        <p:spPr>
          <a:xfrm>
            <a:off x="1456329" y="1113761"/>
            <a:ext cx="9066692" cy="5197548"/>
          </a:xfrm>
          <a:prstGeom prst="rect">
            <a:avLst/>
          </a:prstGeom>
        </p:spPr>
      </p:pic>
    </p:spTree>
    <p:extLst>
      <p:ext uri="{BB962C8B-B14F-4D97-AF65-F5344CB8AC3E}">
        <p14:creationId xmlns:p14="http://schemas.microsoft.com/office/powerpoint/2010/main" val="145707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9A698-3125-168B-38CA-BBAD6C84C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B401BA-30DD-B041-3F5F-62091A6E9F5F}"/>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3" name="Text Placeholder 2">
            <a:extLst>
              <a:ext uri="{FF2B5EF4-FFF2-40B4-BE49-F238E27FC236}">
                <a16:creationId xmlns:a16="http://schemas.microsoft.com/office/drawing/2014/main" id="{D9B656E1-B48D-FD02-9A36-11D8E7CA7559}"/>
              </a:ext>
            </a:extLst>
          </p:cNvPr>
          <p:cNvSpPr>
            <a:spLocks noGrp="1"/>
          </p:cNvSpPr>
          <p:nvPr>
            <p:ph type="body" sz="quarter" idx="13"/>
          </p:nvPr>
        </p:nvSpPr>
        <p:spPr>
          <a:xfrm>
            <a:off x="136371" y="1026414"/>
            <a:ext cx="11655929" cy="4938713"/>
          </a:xfrm>
        </p:spPr>
        <p:txBody>
          <a:bodyPr lIns="91440" tIns="45720" rIns="91440" bIns="45720" anchor="t"/>
          <a:lstStyle/>
          <a:p>
            <a:pPr marL="0" indent="0" algn="just">
              <a:buNone/>
            </a:pPr>
            <a:r>
              <a:rPr lang="en-US" sz="4000" b="1">
                <a:latin typeface="Lato"/>
                <a:ea typeface="Lato"/>
                <a:cs typeface="Lato"/>
              </a:rPr>
              <a:t>2.1. Bit source</a:t>
            </a:r>
            <a:endParaRPr lang="en-US" sz="4000" b="1"/>
          </a:p>
          <a:p>
            <a:pPr marL="0" indent="0" algn="just">
              <a:buNone/>
            </a:pPr>
            <a:r>
              <a:rPr lang="en-US" sz="4000">
                <a:latin typeface="Lato"/>
                <a:ea typeface="Lato"/>
                <a:cs typeface="Lato"/>
              </a:rPr>
              <a:t>Generate bit source with the length of 10^6 bits</a:t>
            </a:r>
            <a:endParaRPr lang="en-US" sz="4000" b="1"/>
          </a:p>
        </p:txBody>
      </p:sp>
      <p:sp>
        <p:nvSpPr>
          <p:cNvPr id="6" name="Slide Number Placeholder 5">
            <a:extLst>
              <a:ext uri="{FF2B5EF4-FFF2-40B4-BE49-F238E27FC236}">
                <a16:creationId xmlns:a16="http://schemas.microsoft.com/office/drawing/2014/main" id="{756C4012-52A1-3A96-0E90-B0B8EB1597B5}"/>
              </a:ext>
            </a:extLst>
          </p:cNvPr>
          <p:cNvSpPr>
            <a:spLocks noGrp="1"/>
          </p:cNvSpPr>
          <p:nvPr>
            <p:ph type="sldNum" sz="quarter" idx="12"/>
          </p:nvPr>
        </p:nvSpPr>
        <p:spPr/>
        <p:txBody>
          <a:bodyPr/>
          <a:lstStyle/>
          <a:p>
            <a:fld id="{9EA0BE3B-158A-4EDF-80DC-E394A0D1600F}" type="slidenum">
              <a:rPr lang="en-US" smtClean="0"/>
              <a:pPr/>
              <a:t>7</a:t>
            </a:fld>
            <a:endParaRPr lang="en-US"/>
          </a:p>
        </p:txBody>
      </p:sp>
    </p:spTree>
    <p:extLst>
      <p:ext uri="{BB962C8B-B14F-4D97-AF65-F5344CB8AC3E}">
        <p14:creationId xmlns:p14="http://schemas.microsoft.com/office/powerpoint/2010/main" val="2076129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B976F-047A-EA8B-0F53-2D3BCCEEC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01AB7-2651-12D4-FCE0-44C955E18C75}"/>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latin typeface="Lato"/>
              <a:ea typeface="Lato"/>
              <a:cs typeface="Lato"/>
            </a:endParaRPr>
          </a:p>
        </p:txBody>
      </p:sp>
      <p:sp>
        <p:nvSpPr>
          <p:cNvPr id="3" name="Text Placeholder 2">
            <a:extLst>
              <a:ext uri="{FF2B5EF4-FFF2-40B4-BE49-F238E27FC236}">
                <a16:creationId xmlns:a16="http://schemas.microsoft.com/office/drawing/2014/main" id="{1F953ED3-859B-92DF-1AB2-47F47C3C3D8E}"/>
              </a:ext>
            </a:extLst>
          </p:cNvPr>
          <p:cNvSpPr>
            <a:spLocks noGrp="1"/>
          </p:cNvSpPr>
          <p:nvPr>
            <p:ph type="body" sz="quarter" idx="13"/>
          </p:nvPr>
        </p:nvSpPr>
        <p:spPr/>
        <p:txBody>
          <a:bodyPr lIns="91440" tIns="45720" rIns="91440" bIns="45720" anchor="t"/>
          <a:lstStyle/>
          <a:p>
            <a:pPr marL="0" indent="0">
              <a:buNone/>
            </a:pPr>
            <a:r>
              <a:rPr lang="en-US" sz="4000" b="1">
                <a:latin typeface="Lato"/>
                <a:ea typeface="Lato"/>
                <a:cs typeface="Lato"/>
              </a:rPr>
              <a:t>2.2. LDPC Codes</a:t>
            </a:r>
          </a:p>
          <a:p>
            <a:pPr marL="571500" indent="-571500">
              <a:buFont typeface="Calibri" panose="020B0604020202020204" pitchFamily="34" charset="0"/>
              <a:buChar char="-"/>
            </a:pPr>
            <a:r>
              <a:rPr lang="en-US" sz="4000">
                <a:latin typeface="Lato"/>
                <a:ea typeface="Lato"/>
                <a:cs typeface="Lato"/>
              </a:rPr>
              <a:t>Low-Density Parity-Check Codes</a:t>
            </a:r>
          </a:p>
          <a:p>
            <a:pPr marL="457200" indent="-457200">
              <a:buFont typeface="Calibri" panose="020B0604020202020204" pitchFamily="34" charset="0"/>
              <a:buChar char="-"/>
            </a:pPr>
            <a:r>
              <a:rPr lang="en-US" sz="4000">
                <a:latin typeface="Lato"/>
                <a:ea typeface="Lato"/>
                <a:cs typeface="Lato"/>
              </a:rPr>
              <a:t>Proposed by Robert Gallager in his 1960 PhD thesis at MIT.</a:t>
            </a:r>
          </a:p>
          <a:p>
            <a:pPr marL="457200" indent="-457200">
              <a:buFont typeface="Calibri" panose="020B0604020202020204" pitchFamily="34" charset="0"/>
              <a:buChar char="-"/>
            </a:pPr>
            <a:r>
              <a:rPr lang="en-US" sz="4000">
                <a:latin typeface="Lato"/>
                <a:ea typeface="Lato"/>
                <a:cs typeface="Lato"/>
              </a:rPr>
              <a:t>Used in</a:t>
            </a:r>
            <a:endParaRPr lang="en-US" sz="4000"/>
          </a:p>
          <a:p>
            <a:pPr marL="914400" lvl="1" indent="-457200">
              <a:buFont typeface="Courier New" panose="020B0604020202020204" pitchFamily="34" charset="0"/>
              <a:buChar char="o"/>
            </a:pPr>
            <a:r>
              <a:rPr lang="en-US" sz="3600"/>
              <a:t>Wi-Fi networks</a:t>
            </a:r>
          </a:p>
          <a:p>
            <a:pPr marL="914400" lvl="1" indent="-457200">
              <a:buFont typeface="Courier New" panose="020B0604020202020204" pitchFamily="34" charset="0"/>
              <a:buChar char="o"/>
            </a:pPr>
            <a:r>
              <a:rPr lang="en-US" sz="3600">
                <a:latin typeface="Lato"/>
                <a:ea typeface="Lato"/>
                <a:cs typeface="Lato"/>
              </a:rPr>
              <a:t>5G NR data channels</a:t>
            </a:r>
            <a:endParaRPr lang="en-US" sz="3600"/>
          </a:p>
          <a:p>
            <a:pPr marL="914400" lvl="1" indent="-457200">
              <a:buFont typeface="Courier New" panose="020B0604020202020204" pitchFamily="34" charset="0"/>
              <a:buChar char="o"/>
            </a:pPr>
            <a:r>
              <a:rPr lang="en-US" sz="3600">
                <a:latin typeface="Lato"/>
                <a:ea typeface="Lato"/>
                <a:cs typeface="Lato"/>
              </a:rPr>
              <a:t>SSDs</a:t>
            </a:r>
            <a:endParaRPr lang="en-US" sz="3600"/>
          </a:p>
          <a:p>
            <a:pPr marL="457200" indent="-457200">
              <a:buFont typeface="Calibri" panose="020B0604020202020204" pitchFamily="34" charset="0"/>
              <a:buChar char="-"/>
            </a:pPr>
            <a:endParaRPr lang="en-US" sz="4000"/>
          </a:p>
          <a:p>
            <a:pPr marL="0" indent="0">
              <a:buNone/>
            </a:pPr>
            <a:endParaRPr lang="en-US"/>
          </a:p>
        </p:txBody>
      </p:sp>
      <p:sp>
        <p:nvSpPr>
          <p:cNvPr id="6" name="Slide Number Placeholder 5">
            <a:extLst>
              <a:ext uri="{FF2B5EF4-FFF2-40B4-BE49-F238E27FC236}">
                <a16:creationId xmlns:a16="http://schemas.microsoft.com/office/drawing/2014/main" id="{39AAF8D0-C0A6-52CF-4FEB-240534ACE5EF}"/>
              </a:ext>
            </a:extLst>
          </p:cNvPr>
          <p:cNvSpPr>
            <a:spLocks noGrp="1"/>
          </p:cNvSpPr>
          <p:nvPr>
            <p:ph type="sldNum" sz="quarter" idx="12"/>
          </p:nvPr>
        </p:nvSpPr>
        <p:spPr/>
        <p:txBody>
          <a:bodyPr/>
          <a:lstStyle/>
          <a:p>
            <a:fld id="{9EA0BE3B-158A-4EDF-80DC-E394A0D1600F}" type="slidenum">
              <a:rPr lang="en-US" smtClean="0"/>
              <a:pPr/>
              <a:t>8</a:t>
            </a:fld>
            <a:endParaRPr lang="en-US"/>
          </a:p>
        </p:txBody>
      </p:sp>
    </p:spTree>
    <p:extLst>
      <p:ext uri="{BB962C8B-B14F-4D97-AF65-F5344CB8AC3E}">
        <p14:creationId xmlns:p14="http://schemas.microsoft.com/office/powerpoint/2010/main" val="3544936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D20FF-C6A3-901D-D800-EB6C4F1A51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1BA362-2D70-7B70-6FEF-1EDFEC57B41F}"/>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latin typeface="Lato"/>
              <a:ea typeface="Lato"/>
              <a:cs typeface="Lato"/>
            </a:endParaRPr>
          </a:p>
        </p:txBody>
      </p:sp>
      <p:sp>
        <p:nvSpPr>
          <p:cNvPr id="3" name="Text Placeholder 2">
            <a:extLst>
              <a:ext uri="{FF2B5EF4-FFF2-40B4-BE49-F238E27FC236}">
                <a16:creationId xmlns:a16="http://schemas.microsoft.com/office/drawing/2014/main" id="{A025D378-26A9-826A-79B1-5EA10A0C8819}"/>
              </a:ext>
            </a:extLst>
          </p:cNvPr>
          <p:cNvSpPr>
            <a:spLocks noGrp="1"/>
          </p:cNvSpPr>
          <p:nvPr>
            <p:ph type="body" sz="quarter" idx="13"/>
          </p:nvPr>
        </p:nvSpPr>
        <p:spPr/>
        <p:txBody>
          <a:bodyPr lIns="91440" tIns="45720" rIns="91440" bIns="45720" anchor="t"/>
          <a:lstStyle/>
          <a:p>
            <a:pPr>
              <a:buFont typeface="Calibri" panose="020B0604020202020204" pitchFamily="34" charset="0"/>
              <a:buChar char="-"/>
            </a:pPr>
            <a:r>
              <a:rPr lang="en-US" sz="4000">
                <a:latin typeface="Lato"/>
                <a:ea typeface="Lato"/>
                <a:cs typeface="Lato"/>
              </a:rPr>
              <a:t>LDPC codes are codes specified by a matrix containing mostly 0's and relatively few 1's. </a:t>
            </a:r>
          </a:p>
          <a:p>
            <a:pPr>
              <a:buFont typeface="Calibri" panose="020B0604020202020204" pitchFamily="34" charset="0"/>
              <a:buChar char="-"/>
            </a:pPr>
            <a:endParaRPr lang="en-US" sz="4000">
              <a:latin typeface="Lato"/>
              <a:ea typeface="Lato"/>
              <a:cs typeface="Lato"/>
            </a:endParaRPr>
          </a:p>
          <a:p>
            <a:pPr>
              <a:buFont typeface="Calibri" panose="020B0604020202020204" pitchFamily="34" charset="0"/>
              <a:buChar char="-"/>
            </a:pPr>
            <a:r>
              <a:rPr lang="en-US" sz="4000">
                <a:latin typeface="Lato"/>
                <a:ea typeface="Lato"/>
                <a:cs typeface="Lato"/>
              </a:rPr>
              <a:t>Each column contains a small fixed number j of 1's</a:t>
            </a:r>
            <a:endParaRPr lang="en-US">
              <a:latin typeface="Lato"/>
              <a:ea typeface="Lato"/>
              <a:cs typeface="Lato"/>
            </a:endParaRPr>
          </a:p>
          <a:p>
            <a:pPr>
              <a:buFont typeface="Calibri" panose="020B0604020202020204" pitchFamily="34" charset="0"/>
              <a:buChar char="-"/>
            </a:pPr>
            <a:endParaRPr lang="en-US" sz="4000">
              <a:latin typeface="Lato"/>
              <a:ea typeface="Lato"/>
              <a:cs typeface="Lato"/>
            </a:endParaRPr>
          </a:p>
          <a:p>
            <a:pPr>
              <a:buFont typeface="Calibri" panose="020B0604020202020204" pitchFamily="34" charset="0"/>
              <a:buChar char="-"/>
            </a:pPr>
            <a:r>
              <a:rPr lang="en-US" sz="4000">
                <a:latin typeface="Lato"/>
                <a:ea typeface="Lato"/>
                <a:cs typeface="Lato"/>
              </a:rPr>
              <a:t>Each row contains a small fixed number k of 1's</a:t>
            </a:r>
            <a:endParaRPr lang="en-US">
              <a:latin typeface="Lato"/>
              <a:ea typeface="Lato"/>
              <a:cs typeface="Lato"/>
            </a:endParaRPr>
          </a:p>
        </p:txBody>
      </p:sp>
      <p:sp>
        <p:nvSpPr>
          <p:cNvPr id="6" name="Slide Number Placeholder 5">
            <a:extLst>
              <a:ext uri="{FF2B5EF4-FFF2-40B4-BE49-F238E27FC236}">
                <a16:creationId xmlns:a16="http://schemas.microsoft.com/office/drawing/2014/main" id="{587A7D3B-F799-21C0-52F7-ECCC86674DF3}"/>
              </a:ext>
            </a:extLst>
          </p:cNvPr>
          <p:cNvSpPr>
            <a:spLocks noGrp="1"/>
          </p:cNvSpPr>
          <p:nvPr>
            <p:ph type="sldNum" sz="quarter" idx="12"/>
          </p:nvPr>
        </p:nvSpPr>
        <p:spPr/>
        <p:txBody>
          <a:bodyPr/>
          <a:lstStyle/>
          <a:p>
            <a:fld id="{9EA0BE3B-158A-4EDF-80DC-E394A0D1600F}" type="slidenum">
              <a:rPr lang="en-US" smtClean="0"/>
              <a:pPr/>
              <a:t>9</a:t>
            </a:fld>
            <a:endParaRPr lang="en-US"/>
          </a:p>
        </p:txBody>
      </p:sp>
    </p:spTree>
    <p:extLst>
      <p:ext uri="{BB962C8B-B14F-4D97-AF65-F5344CB8AC3E}">
        <p14:creationId xmlns:p14="http://schemas.microsoft.com/office/powerpoint/2010/main" val="2205484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BED96-6C70-7B2E-A875-430657D6C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E5034-2048-1D26-A27F-4E2F9FD91FAB}"/>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latin typeface="Lato"/>
              <a:ea typeface="Lato"/>
              <a:cs typeface="Lato"/>
            </a:endParaRPr>
          </a:p>
        </p:txBody>
      </p:sp>
      <p:sp>
        <p:nvSpPr>
          <p:cNvPr id="3" name="Text Placeholder 2">
            <a:extLst>
              <a:ext uri="{FF2B5EF4-FFF2-40B4-BE49-F238E27FC236}">
                <a16:creationId xmlns:a16="http://schemas.microsoft.com/office/drawing/2014/main" id="{3A64F88F-A73C-9BAC-F6F6-3C48EAFDA09F}"/>
              </a:ext>
            </a:extLst>
          </p:cNvPr>
          <p:cNvSpPr>
            <a:spLocks noGrp="1"/>
          </p:cNvSpPr>
          <p:nvPr>
            <p:ph type="body" sz="quarter" idx="13"/>
          </p:nvPr>
        </p:nvSpPr>
        <p:spPr/>
        <p:txBody>
          <a:bodyPr lIns="91440" tIns="45720" rIns="91440" bIns="45720" anchor="t"/>
          <a:lstStyle/>
          <a:p>
            <a:pPr>
              <a:buFont typeface="Calibri" panose="020B0604020202020204" pitchFamily="34" charset="0"/>
              <a:buChar char="-"/>
            </a:pPr>
            <a:endParaRPr lang="en-US" sz="4000">
              <a:latin typeface="Lato"/>
              <a:ea typeface="Lato"/>
              <a:cs typeface="Lato"/>
            </a:endParaRPr>
          </a:p>
        </p:txBody>
      </p:sp>
      <p:sp>
        <p:nvSpPr>
          <p:cNvPr id="6" name="Slide Number Placeholder 5">
            <a:extLst>
              <a:ext uri="{FF2B5EF4-FFF2-40B4-BE49-F238E27FC236}">
                <a16:creationId xmlns:a16="http://schemas.microsoft.com/office/drawing/2014/main" id="{B3C356FA-5EBA-EACC-5574-2C28EFDC0B55}"/>
              </a:ext>
            </a:extLst>
          </p:cNvPr>
          <p:cNvSpPr>
            <a:spLocks noGrp="1"/>
          </p:cNvSpPr>
          <p:nvPr>
            <p:ph type="sldNum" sz="quarter" idx="12"/>
          </p:nvPr>
        </p:nvSpPr>
        <p:spPr/>
        <p:txBody>
          <a:bodyPr/>
          <a:lstStyle/>
          <a:p>
            <a:fld id="{9EA0BE3B-158A-4EDF-80DC-E394A0D1600F}" type="slidenum">
              <a:rPr lang="en-US" smtClean="0"/>
              <a:pPr/>
              <a:t>10</a:t>
            </a:fld>
            <a:endParaRPr lang="en-US"/>
          </a:p>
        </p:txBody>
      </p:sp>
      <p:pic>
        <p:nvPicPr>
          <p:cNvPr id="4" name="Picture 3" descr="A screenshot of a computer&#10;&#10;AI-generated content may be incorrect.">
            <a:extLst>
              <a:ext uri="{FF2B5EF4-FFF2-40B4-BE49-F238E27FC236}">
                <a16:creationId xmlns:a16="http://schemas.microsoft.com/office/drawing/2014/main" id="{65196B3B-6DF5-049A-F342-7A30B632FC2D}"/>
              </a:ext>
            </a:extLst>
          </p:cNvPr>
          <p:cNvPicPr>
            <a:picLocks noChangeAspect="1"/>
          </p:cNvPicPr>
          <p:nvPr/>
        </p:nvPicPr>
        <p:blipFill>
          <a:blip r:embed="rId2"/>
          <a:stretch>
            <a:fillRect/>
          </a:stretch>
        </p:blipFill>
        <p:spPr>
          <a:xfrm>
            <a:off x="1214287" y="1034782"/>
            <a:ext cx="9767615" cy="4558869"/>
          </a:xfrm>
          <a:prstGeom prst="rect">
            <a:avLst/>
          </a:prstGeom>
        </p:spPr>
      </p:pic>
    </p:spTree>
    <p:extLst>
      <p:ext uri="{BB962C8B-B14F-4D97-AF65-F5344CB8AC3E}">
        <p14:creationId xmlns:p14="http://schemas.microsoft.com/office/powerpoint/2010/main" val="1270333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736DF-65CD-19C0-E4BF-2D273B0DA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6DF12-53C6-A975-612F-C598BAB7BC67}"/>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latin typeface="Lato"/>
              <a:ea typeface="Lato"/>
              <a:cs typeface="Lato"/>
            </a:endParaRPr>
          </a:p>
        </p:txBody>
      </p:sp>
      <p:sp>
        <p:nvSpPr>
          <p:cNvPr id="3" name="Text Placeholder 2">
            <a:extLst>
              <a:ext uri="{FF2B5EF4-FFF2-40B4-BE49-F238E27FC236}">
                <a16:creationId xmlns:a16="http://schemas.microsoft.com/office/drawing/2014/main" id="{3BBA2F4E-5BA5-53CD-8958-28CA95659D93}"/>
              </a:ext>
            </a:extLst>
          </p:cNvPr>
          <p:cNvSpPr>
            <a:spLocks noGrp="1"/>
          </p:cNvSpPr>
          <p:nvPr>
            <p:ph type="body" sz="quarter" idx="13"/>
          </p:nvPr>
        </p:nvSpPr>
        <p:spPr/>
        <p:txBody>
          <a:bodyPr lIns="91440" tIns="45720" rIns="91440" bIns="45720" anchor="t"/>
          <a:lstStyle/>
          <a:p>
            <a:pPr>
              <a:buFont typeface="Calibri" panose="020B0604020202020204" pitchFamily="34" charset="0"/>
              <a:buChar char="-"/>
            </a:pPr>
            <a:endParaRPr lang="en-US" sz="4000">
              <a:latin typeface="Lato"/>
              <a:ea typeface="Lato"/>
              <a:cs typeface="Lato"/>
            </a:endParaRPr>
          </a:p>
        </p:txBody>
      </p:sp>
      <p:sp>
        <p:nvSpPr>
          <p:cNvPr id="6" name="Slide Number Placeholder 5">
            <a:extLst>
              <a:ext uri="{FF2B5EF4-FFF2-40B4-BE49-F238E27FC236}">
                <a16:creationId xmlns:a16="http://schemas.microsoft.com/office/drawing/2014/main" id="{F58643BB-907F-5E88-A2E6-DD4CAC4CF07C}"/>
              </a:ext>
            </a:extLst>
          </p:cNvPr>
          <p:cNvSpPr>
            <a:spLocks noGrp="1"/>
          </p:cNvSpPr>
          <p:nvPr>
            <p:ph type="sldNum" sz="quarter" idx="12"/>
          </p:nvPr>
        </p:nvSpPr>
        <p:spPr/>
        <p:txBody>
          <a:bodyPr/>
          <a:lstStyle/>
          <a:p>
            <a:fld id="{9EA0BE3B-158A-4EDF-80DC-E394A0D1600F}" type="slidenum">
              <a:rPr lang="en-US" smtClean="0"/>
              <a:pPr/>
              <a:t>11</a:t>
            </a:fld>
            <a:endParaRPr lang="en-US"/>
          </a:p>
        </p:txBody>
      </p:sp>
      <p:pic>
        <p:nvPicPr>
          <p:cNvPr id="4" name="Picture 3">
            <a:extLst>
              <a:ext uri="{FF2B5EF4-FFF2-40B4-BE49-F238E27FC236}">
                <a16:creationId xmlns:a16="http://schemas.microsoft.com/office/drawing/2014/main" id="{829ED22A-853A-0FE3-6DB7-8F77764FB274}"/>
              </a:ext>
            </a:extLst>
          </p:cNvPr>
          <p:cNvPicPr>
            <a:picLocks noChangeAspect="1"/>
          </p:cNvPicPr>
          <p:nvPr/>
        </p:nvPicPr>
        <p:blipFill>
          <a:blip r:embed="rId2"/>
          <a:stretch>
            <a:fillRect/>
          </a:stretch>
        </p:blipFill>
        <p:spPr>
          <a:xfrm>
            <a:off x="2118094" y="1036896"/>
            <a:ext cx="8407694" cy="4801928"/>
          </a:xfrm>
          <a:prstGeom prst="rect">
            <a:avLst/>
          </a:prstGeom>
        </p:spPr>
      </p:pic>
    </p:spTree>
    <p:extLst>
      <p:ext uri="{BB962C8B-B14F-4D97-AF65-F5344CB8AC3E}">
        <p14:creationId xmlns:p14="http://schemas.microsoft.com/office/powerpoint/2010/main" val="2494183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27E7-0CBA-06D1-272F-0864B4BC1565}"/>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solidFill>
                <a:srgbClr val="FFFFFF"/>
              </a:solidFill>
              <a:latin typeface="Lato"/>
              <a:ea typeface="Lato"/>
              <a:cs typeface="Lato"/>
            </a:endParaRPr>
          </a:p>
          <a:p>
            <a:endParaRPr lang="en-US" b="0">
              <a:solidFill>
                <a:srgbClr val="000000"/>
              </a:solidFill>
            </a:endParaRPr>
          </a:p>
          <a:p>
            <a:endParaRPr lang="en-US"/>
          </a:p>
        </p:txBody>
      </p:sp>
      <p:sp>
        <p:nvSpPr>
          <p:cNvPr id="3" name="Text Placeholder 2">
            <a:extLst>
              <a:ext uri="{FF2B5EF4-FFF2-40B4-BE49-F238E27FC236}">
                <a16:creationId xmlns:a16="http://schemas.microsoft.com/office/drawing/2014/main" id="{2AF69E14-8EE1-CEDE-7408-215F3E5D4115}"/>
              </a:ext>
            </a:extLst>
          </p:cNvPr>
          <p:cNvSpPr>
            <a:spLocks noGrp="1"/>
          </p:cNvSpPr>
          <p:nvPr>
            <p:ph type="body" sz="quarter" idx="13"/>
          </p:nvPr>
        </p:nvSpPr>
        <p:spPr/>
        <p:txBody>
          <a:bodyPr lIns="91440" tIns="45720" rIns="91440" bIns="45720" anchor="t"/>
          <a:lstStyle/>
          <a:p>
            <a:endParaRPr lang="en-US">
              <a:latin typeface="Lato"/>
              <a:ea typeface="Lato"/>
              <a:cs typeface="Lato"/>
            </a:endParaRPr>
          </a:p>
          <a:p>
            <a:endParaRPr lang="en-US">
              <a:latin typeface="Lato"/>
              <a:ea typeface="Lato"/>
              <a:cs typeface="Lato"/>
            </a:endParaRPr>
          </a:p>
          <a:p>
            <a:endParaRPr lang="en-US">
              <a:latin typeface="Lato"/>
              <a:ea typeface="Lato"/>
              <a:cs typeface="Lato"/>
            </a:endParaRPr>
          </a:p>
          <a:p>
            <a:endParaRPr lang="en-US">
              <a:latin typeface="Lato"/>
              <a:ea typeface="Lato"/>
              <a:cs typeface="Lato"/>
            </a:endParaRPr>
          </a:p>
          <a:p>
            <a:r>
              <a:rPr lang="en-US" dirty="0" err="1">
                <a:latin typeface="Lato"/>
                <a:ea typeface="Lato"/>
                <a:cs typeface="Lato"/>
              </a:rPr>
              <a:t>Sydrome</a:t>
            </a:r>
            <a:r>
              <a:rPr lang="en-US">
                <a:latin typeface="Lato"/>
                <a:ea typeface="Lato"/>
                <a:cs typeface="Lato"/>
              </a:rPr>
              <a:t> Check (S) = zeros vector, the algorithm will stop.</a:t>
            </a:r>
            <a:endParaRPr lang="en-US"/>
          </a:p>
          <a:p>
            <a:r>
              <a:rPr lang="en-US">
                <a:latin typeface="Lato"/>
                <a:ea typeface="Lato"/>
                <a:cs typeface="Lato"/>
              </a:rPr>
              <a:t>Decoding Algorithm</a:t>
            </a:r>
            <a:endParaRPr lang="en-US"/>
          </a:p>
          <a:p>
            <a:pPr lvl="1">
              <a:buFont typeface="Courier New" panose="020B0604020202020204" pitchFamily="34" charset="0"/>
              <a:buChar char="o"/>
            </a:pPr>
            <a:r>
              <a:rPr lang="en-US">
                <a:latin typeface="Lato"/>
                <a:ea typeface="Lato"/>
                <a:cs typeface="Lato"/>
              </a:rPr>
              <a:t>Hard Decision: Bit-Flipping</a:t>
            </a:r>
            <a:endParaRPr lang="en-US"/>
          </a:p>
          <a:p>
            <a:pPr lvl="1">
              <a:buFont typeface="Courier New" panose="020B0604020202020204" pitchFamily="34" charset="0"/>
              <a:buChar char="o"/>
            </a:pPr>
            <a:r>
              <a:rPr lang="en-US">
                <a:latin typeface="Lato"/>
                <a:ea typeface="Lato"/>
                <a:cs typeface="Lato"/>
              </a:rPr>
              <a:t>Soft Decision: LLR + Min Sum Algorithm</a:t>
            </a:r>
            <a:endParaRPr lang="en-US"/>
          </a:p>
          <a:p>
            <a:endParaRPr lang="en-US"/>
          </a:p>
        </p:txBody>
      </p:sp>
      <p:sp>
        <p:nvSpPr>
          <p:cNvPr id="4" name="Slide Number Placeholder 3">
            <a:extLst>
              <a:ext uri="{FF2B5EF4-FFF2-40B4-BE49-F238E27FC236}">
                <a16:creationId xmlns:a16="http://schemas.microsoft.com/office/drawing/2014/main" id="{D13DB9D9-A8B1-9EF7-6B00-9DACB5D94712}"/>
              </a:ext>
            </a:extLst>
          </p:cNvPr>
          <p:cNvSpPr>
            <a:spLocks noGrp="1"/>
          </p:cNvSpPr>
          <p:nvPr>
            <p:ph type="sldNum" sz="quarter" idx="12"/>
          </p:nvPr>
        </p:nvSpPr>
        <p:spPr/>
        <p:txBody>
          <a:bodyPr/>
          <a:lstStyle/>
          <a:p>
            <a:fld id="{9EA0BE3B-158A-4EDF-80DC-E394A0D1600F}" type="slidenum">
              <a:rPr lang="en-US" smtClean="0"/>
              <a:pPr/>
              <a:t>12</a:t>
            </a:fld>
            <a:endParaRPr lang="en-US"/>
          </a:p>
        </p:txBody>
      </p:sp>
      <p:pic>
        <p:nvPicPr>
          <p:cNvPr id="5" name="Picture 4" descr="A close up of a text&#10;&#10;AI-generated content may be incorrect.">
            <a:extLst>
              <a:ext uri="{FF2B5EF4-FFF2-40B4-BE49-F238E27FC236}">
                <a16:creationId xmlns:a16="http://schemas.microsoft.com/office/drawing/2014/main" id="{0446722A-C6FA-B220-72D1-ADDC7509AD0D}"/>
              </a:ext>
            </a:extLst>
          </p:cNvPr>
          <p:cNvPicPr>
            <a:picLocks noChangeAspect="1"/>
          </p:cNvPicPr>
          <p:nvPr/>
        </p:nvPicPr>
        <p:blipFill>
          <a:blip r:embed="rId2"/>
          <a:srcRect b="-1250"/>
          <a:stretch>
            <a:fillRect/>
          </a:stretch>
        </p:blipFill>
        <p:spPr>
          <a:xfrm>
            <a:off x="2769117" y="1031248"/>
            <a:ext cx="5200650" cy="1571982"/>
          </a:xfrm>
          <a:prstGeom prst="rect">
            <a:avLst/>
          </a:prstGeom>
        </p:spPr>
      </p:pic>
    </p:spTree>
    <p:extLst>
      <p:ext uri="{BB962C8B-B14F-4D97-AF65-F5344CB8AC3E}">
        <p14:creationId xmlns:p14="http://schemas.microsoft.com/office/powerpoint/2010/main" val="815215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644D6-58B5-2E85-8C78-CFC281FEE8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BAB6D-AE3D-88FC-8138-24F510C85C6F}"/>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solidFill>
                <a:srgbClr val="FFFFFF"/>
              </a:solidFill>
            </a:endParaRPr>
          </a:p>
          <a:p>
            <a:endParaRPr lang="en-US"/>
          </a:p>
        </p:txBody>
      </p:sp>
      <p:sp>
        <p:nvSpPr>
          <p:cNvPr id="3" name="Text Placeholder 2">
            <a:extLst>
              <a:ext uri="{FF2B5EF4-FFF2-40B4-BE49-F238E27FC236}">
                <a16:creationId xmlns:a16="http://schemas.microsoft.com/office/drawing/2014/main" id="{B1AEF8F5-30B0-20B4-F6D5-7C2672912D81}"/>
              </a:ext>
            </a:extLst>
          </p:cNvPr>
          <p:cNvSpPr>
            <a:spLocks noGrp="1"/>
          </p:cNvSpPr>
          <p:nvPr>
            <p:ph type="body" sz="quarter" idx="13"/>
          </p:nvPr>
        </p:nvSpPr>
        <p:spPr>
          <a:xfrm>
            <a:off x="337539" y="1032510"/>
            <a:ext cx="5265989" cy="4938713"/>
          </a:xfrm>
        </p:spPr>
        <p:txBody>
          <a:bodyPr lIns="91440" tIns="45720" rIns="91440" bIns="45720" anchor="t"/>
          <a:lstStyle/>
          <a:p>
            <a:pPr marL="0" indent="0">
              <a:buNone/>
            </a:pPr>
            <a:r>
              <a:rPr lang="en-US" b="1">
                <a:latin typeface="Lato"/>
                <a:ea typeface="Lato"/>
                <a:cs typeface="Lato"/>
              </a:rPr>
              <a:t>Calculate Log-Likelihood Ratio</a:t>
            </a:r>
            <a:endParaRPr lang="en-US">
              <a:latin typeface="Lato"/>
              <a:ea typeface="Lato"/>
              <a:cs typeface="Lato"/>
            </a:endParaRPr>
          </a:p>
          <a:p>
            <a:endParaRPr lang="en-US" sz="2400">
              <a:latin typeface="Lato"/>
              <a:ea typeface="Lato"/>
              <a:cs typeface="Lato"/>
            </a:endParaRPr>
          </a:p>
          <a:p>
            <a:endParaRPr lang="en-US" sz="2400">
              <a:latin typeface="Lato"/>
              <a:ea typeface="Lato"/>
              <a:cs typeface="Lato"/>
            </a:endParaRPr>
          </a:p>
          <a:p>
            <a:endParaRPr lang="en-US" sz="2400">
              <a:latin typeface="Lato"/>
              <a:ea typeface="Lato"/>
              <a:cs typeface="Lato"/>
            </a:endParaRPr>
          </a:p>
          <a:p>
            <a:endParaRPr lang="en-US" sz="2400">
              <a:latin typeface="Lato"/>
              <a:ea typeface="Lato"/>
              <a:cs typeface="Lato"/>
            </a:endParaRPr>
          </a:p>
          <a:p>
            <a:r>
              <a:rPr lang="en-US" sz="2400">
                <a:latin typeface="Lato"/>
                <a:ea typeface="Lato"/>
                <a:cs typeface="Lato"/>
              </a:rPr>
              <a:t>LLR &gt; 0: Bit </a:t>
            </a:r>
            <a:r>
              <a:rPr lang="en-US" sz="2400" err="1">
                <a:latin typeface="Lato"/>
                <a:ea typeface="Lato"/>
                <a:cs typeface="Lato"/>
              </a:rPr>
              <a:t>có</a:t>
            </a:r>
            <a:r>
              <a:rPr lang="en-US" sz="2400">
                <a:latin typeface="Lato"/>
                <a:ea typeface="Lato"/>
                <a:cs typeface="Lato"/>
              </a:rPr>
              <a:t> </a:t>
            </a:r>
            <a:r>
              <a:rPr lang="en-US" sz="2400" err="1">
                <a:latin typeface="Lato"/>
                <a:ea typeface="Lato"/>
                <a:cs typeface="Lato"/>
              </a:rPr>
              <a:t>khả</a:t>
            </a:r>
            <a:r>
              <a:rPr lang="en-US" sz="2400">
                <a:latin typeface="Lato"/>
                <a:ea typeface="Lato"/>
                <a:cs typeface="Lato"/>
              </a:rPr>
              <a:t> </a:t>
            </a:r>
            <a:r>
              <a:rPr lang="en-US" sz="2400" err="1">
                <a:latin typeface="Lato"/>
                <a:ea typeface="Lato"/>
                <a:cs typeface="Lato"/>
              </a:rPr>
              <a:t>năng</a:t>
            </a:r>
            <a:r>
              <a:rPr lang="en-US" sz="2400">
                <a:latin typeface="Lato"/>
                <a:ea typeface="Lato"/>
                <a:cs typeface="Lato"/>
              </a:rPr>
              <a:t> </a:t>
            </a:r>
            <a:r>
              <a:rPr lang="en-US" sz="2400" err="1">
                <a:latin typeface="Lato"/>
                <a:ea typeface="Lato"/>
                <a:cs typeface="Lato"/>
              </a:rPr>
              <a:t>cao</a:t>
            </a:r>
            <a:r>
              <a:rPr lang="en-US" sz="2400">
                <a:latin typeface="Lato"/>
                <a:ea typeface="Lato"/>
                <a:cs typeface="Lato"/>
              </a:rPr>
              <a:t> </a:t>
            </a:r>
            <a:r>
              <a:rPr lang="en-US" sz="2400" err="1">
                <a:latin typeface="Lato"/>
                <a:ea typeface="Lato"/>
                <a:cs typeface="Lato"/>
              </a:rPr>
              <a:t>là</a:t>
            </a:r>
            <a:r>
              <a:rPr lang="en-US" sz="2400">
                <a:latin typeface="Lato"/>
                <a:ea typeface="Lato"/>
                <a:cs typeface="Lato"/>
              </a:rPr>
              <a:t> </a:t>
            </a:r>
            <a:r>
              <a:rPr lang="en-US" sz="2400" b="1">
                <a:latin typeface="Lato"/>
                <a:ea typeface="Lato"/>
                <a:cs typeface="Lato"/>
              </a:rPr>
              <a:t>0</a:t>
            </a:r>
            <a:r>
              <a:rPr lang="en-US" sz="2400">
                <a:latin typeface="Lato"/>
                <a:ea typeface="Lato"/>
                <a:cs typeface="Lato"/>
              </a:rPr>
              <a:t>. </a:t>
            </a:r>
            <a:endParaRPr lang="en-US"/>
          </a:p>
          <a:p>
            <a:r>
              <a:rPr lang="en-US" sz="2400">
                <a:latin typeface="Lato"/>
                <a:ea typeface="Lato"/>
                <a:cs typeface="Lato"/>
              </a:rPr>
              <a:t>LLR &lt; 0: Bit </a:t>
            </a:r>
            <a:r>
              <a:rPr lang="en-US" sz="2400" err="1">
                <a:latin typeface="Lato"/>
                <a:ea typeface="Lato"/>
                <a:cs typeface="Lato"/>
              </a:rPr>
              <a:t>có</a:t>
            </a:r>
            <a:r>
              <a:rPr lang="en-US" sz="2400">
                <a:latin typeface="Lato"/>
                <a:ea typeface="Lato"/>
                <a:cs typeface="Lato"/>
              </a:rPr>
              <a:t> </a:t>
            </a:r>
            <a:r>
              <a:rPr lang="en-US" sz="2400" err="1">
                <a:latin typeface="Lato"/>
                <a:ea typeface="Lato"/>
                <a:cs typeface="Lato"/>
              </a:rPr>
              <a:t>khả</a:t>
            </a:r>
            <a:r>
              <a:rPr lang="en-US" sz="2400">
                <a:latin typeface="Lato"/>
                <a:ea typeface="Lato"/>
                <a:cs typeface="Lato"/>
              </a:rPr>
              <a:t> </a:t>
            </a:r>
            <a:r>
              <a:rPr lang="en-US" sz="2400" err="1">
                <a:latin typeface="Lato"/>
                <a:ea typeface="Lato"/>
                <a:cs typeface="Lato"/>
              </a:rPr>
              <a:t>năng</a:t>
            </a:r>
            <a:r>
              <a:rPr lang="en-US" sz="2400">
                <a:latin typeface="Lato"/>
                <a:ea typeface="Lato"/>
                <a:cs typeface="Lato"/>
              </a:rPr>
              <a:t> </a:t>
            </a:r>
            <a:r>
              <a:rPr lang="en-US" sz="2400" err="1">
                <a:latin typeface="Lato"/>
                <a:ea typeface="Lato"/>
                <a:cs typeface="Lato"/>
              </a:rPr>
              <a:t>cao</a:t>
            </a:r>
            <a:r>
              <a:rPr lang="en-US" sz="2400">
                <a:latin typeface="Lato"/>
                <a:ea typeface="Lato"/>
                <a:cs typeface="Lato"/>
              </a:rPr>
              <a:t> </a:t>
            </a:r>
            <a:r>
              <a:rPr lang="en-US" sz="2400" err="1">
                <a:latin typeface="Lato"/>
                <a:ea typeface="Lato"/>
                <a:cs typeface="Lato"/>
              </a:rPr>
              <a:t>là</a:t>
            </a:r>
            <a:r>
              <a:rPr lang="en-US" sz="2400">
                <a:latin typeface="Lato"/>
                <a:ea typeface="Lato"/>
                <a:cs typeface="Lato"/>
              </a:rPr>
              <a:t> </a:t>
            </a:r>
            <a:r>
              <a:rPr lang="en-US" sz="2400" b="1">
                <a:latin typeface="Lato"/>
                <a:ea typeface="Lato"/>
                <a:cs typeface="Lato"/>
              </a:rPr>
              <a:t>1</a:t>
            </a:r>
            <a:r>
              <a:rPr lang="en-US" sz="2400">
                <a:latin typeface="Lato"/>
                <a:ea typeface="Lato"/>
                <a:cs typeface="Lato"/>
              </a:rPr>
              <a:t>. </a:t>
            </a:r>
          </a:p>
          <a:p>
            <a:r>
              <a:rPr lang="en-US" sz="2400">
                <a:latin typeface="Lato"/>
                <a:ea typeface="Lato"/>
                <a:cs typeface="Lato"/>
              </a:rPr>
              <a:t>Y: received signal</a:t>
            </a:r>
          </a:p>
          <a:p>
            <a:r>
              <a:rPr lang="en-US" sz="2400">
                <a:latin typeface="Lato"/>
                <a:ea typeface="Lato"/>
                <a:cs typeface="Lato"/>
              </a:rPr>
              <a:t>H: channel coefficient</a:t>
            </a:r>
            <a:endParaRPr lang="en-US" sz="2400"/>
          </a:p>
          <a:p>
            <a:r>
              <a:rPr lang="en-US" sz="2400">
                <a:latin typeface="Lato"/>
                <a:ea typeface="Lato"/>
                <a:cs typeface="Lato"/>
              </a:rPr>
              <a:t>S: reference point</a:t>
            </a:r>
          </a:p>
          <a:p>
            <a:r>
              <a:rPr lang="en-US" sz="2400">
                <a:latin typeface="Lato"/>
                <a:ea typeface="Lato"/>
                <a:cs typeface="Lato"/>
              </a:rPr>
              <a:t>Sigma: variance of noise</a:t>
            </a:r>
            <a:endParaRPr lang="en-US" sz="2400"/>
          </a:p>
        </p:txBody>
      </p:sp>
      <p:sp>
        <p:nvSpPr>
          <p:cNvPr id="4" name="Slide Number Placeholder 3">
            <a:extLst>
              <a:ext uri="{FF2B5EF4-FFF2-40B4-BE49-F238E27FC236}">
                <a16:creationId xmlns:a16="http://schemas.microsoft.com/office/drawing/2014/main" id="{6DEE2259-C424-B3C8-3562-5287278E2F1D}"/>
              </a:ext>
            </a:extLst>
          </p:cNvPr>
          <p:cNvSpPr>
            <a:spLocks noGrp="1"/>
          </p:cNvSpPr>
          <p:nvPr>
            <p:ph type="sldNum" sz="quarter" idx="12"/>
          </p:nvPr>
        </p:nvSpPr>
        <p:spPr/>
        <p:txBody>
          <a:bodyPr/>
          <a:lstStyle/>
          <a:p>
            <a:fld id="{9EA0BE3B-158A-4EDF-80DC-E394A0D1600F}" type="slidenum">
              <a:rPr lang="en-US" smtClean="0"/>
              <a:pPr/>
              <a:t>13</a:t>
            </a:fld>
            <a:endParaRPr lang="en-US"/>
          </a:p>
        </p:txBody>
      </p:sp>
      <p:pic>
        <p:nvPicPr>
          <p:cNvPr id="6" name="Picture 5" descr="A math equation with black text&#10;&#10;AI-generated content may be incorrect.">
            <a:extLst>
              <a:ext uri="{FF2B5EF4-FFF2-40B4-BE49-F238E27FC236}">
                <a16:creationId xmlns:a16="http://schemas.microsoft.com/office/drawing/2014/main" id="{E5E70F79-75C6-A8C5-6365-29B04B9A7589}"/>
              </a:ext>
            </a:extLst>
          </p:cNvPr>
          <p:cNvPicPr>
            <a:picLocks noChangeAspect="1"/>
          </p:cNvPicPr>
          <p:nvPr/>
        </p:nvPicPr>
        <p:blipFill>
          <a:blip r:embed="rId2"/>
          <a:stretch>
            <a:fillRect/>
          </a:stretch>
        </p:blipFill>
        <p:spPr>
          <a:xfrm>
            <a:off x="2502390" y="1616394"/>
            <a:ext cx="6987989" cy="1433488"/>
          </a:xfrm>
          <a:prstGeom prst="rect">
            <a:avLst/>
          </a:prstGeom>
        </p:spPr>
      </p:pic>
    </p:spTree>
    <p:extLst>
      <p:ext uri="{BB962C8B-B14F-4D97-AF65-F5344CB8AC3E}">
        <p14:creationId xmlns:p14="http://schemas.microsoft.com/office/powerpoint/2010/main" val="3746607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98892-4FDF-37E1-F159-A1599DFFB63F}"/>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p>
        </p:txBody>
      </p:sp>
      <p:sp>
        <p:nvSpPr>
          <p:cNvPr id="3" name="Text Placeholder 2">
            <a:extLst>
              <a:ext uri="{FF2B5EF4-FFF2-40B4-BE49-F238E27FC236}">
                <a16:creationId xmlns:a16="http://schemas.microsoft.com/office/drawing/2014/main" id="{40AA9B41-3EBE-4035-57E9-5B7D1AB7E1E7}"/>
              </a:ext>
            </a:extLst>
          </p:cNvPr>
          <p:cNvSpPr>
            <a:spLocks noGrp="1"/>
          </p:cNvSpPr>
          <p:nvPr>
            <p:ph type="body" sz="quarter" idx="13"/>
          </p:nvPr>
        </p:nvSpPr>
        <p:spPr/>
        <p:txBody>
          <a:bodyPr lIns="91440" tIns="45720" rIns="91440" bIns="45720" anchor="t"/>
          <a:lstStyle/>
          <a:p>
            <a:pPr marL="0" indent="0">
              <a:buNone/>
            </a:pPr>
            <a:r>
              <a:rPr lang="en-US" b="1">
                <a:latin typeface="Lato"/>
                <a:ea typeface="Lato"/>
                <a:cs typeface="Lato"/>
              </a:rPr>
              <a:t>Min-Sum algorithm</a:t>
            </a:r>
          </a:p>
          <a:p>
            <a:r>
              <a:rPr lang="en-US" b="1">
                <a:latin typeface="Lato"/>
                <a:ea typeface="Lato"/>
                <a:cs typeface="Lato"/>
              </a:rPr>
              <a:t>Definition: </a:t>
            </a:r>
            <a:r>
              <a:rPr lang="en-US">
                <a:latin typeface="Lato"/>
                <a:ea typeface="Lato"/>
                <a:cs typeface="Lato"/>
              </a:rPr>
              <a:t>reduces computational overhead by replacing complex non-linear mathematical operations (like tanh) with simple minimum comparisons and additions.</a:t>
            </a:r>
          </a:p>
          <a:p>
            <a:r>
              <a:rPr lang="en-US" b="1">
                <a:latin typeface="Lato"/>
                <a:ea typeface="Lato"/>
                <a:cs typeface="Lato"/>
              </a:rPr>
              <a:t>How it works:</a:t>
            </a:r>
          </a:p>
          <a:p>
            <a:pPr lvl="1">
              <a:buFont typeface="Courier New"/>
              <a:buChar char="o"/>
            </a:pPr>
            <a:r>
              <a:rPr lang="en-US" b="1">
                <a:latin typeface="Lato"/>
                <a:ea typeface="Lato"/>
                <a:cs typeface="Lato"/>
              </a:rPr>
              <a:t>Sign Parity Check:</a:t>
            </a:r>
            <a:r>
              <a:rPr lang="en-US">
                <a:latin typeface="Lato"/>
                <a:ea typeface="Lato"/>
                <a:cs typeface="Lato"/>
              </a:rPr>
              <a:t> The sign of the message sent to a target node is the product of the signs of all other incoming messages.</a:t>
            </a:r>
            <a:endParaRPr lang="en-US"/>
          </a:p>
          <a:p>
            <a:pPr lvl="1">
              <a:buFont typeface="Courier New"/>
              <a:buChar char="o"/>
            </a:pPr>
            <a:r>
              <a:rPr lang="en-US" b="1">
                <a:latin typeface="Lato"/>
                <a:ea typeface="Lato"/>
                <a:cs typeface="Lato"/>
              </a:rPr>
              <a:t>Magnitude:</a:t>
            </a:r>
            <a:r>
              <a:rPr lang="en-US">
                <a:latin typeface="Lato"/>
                <a:ea typeface="Lato"/>
                <a:cs typeface="Lato"/>
              </a:rPr>
              <a:t> The magnitude of the message is simply the smallest absolute value (the minimum) among all other incoming messages. It assumes the reliability of the parity check is bounded by its least reliable bit.</a:t>
            </a:r>
            <a:endParaRPr lang="en-US"/>
          </a:p>
          <a:p>
            <a:pPr marL="0" indent="0">
              <a:buFont typeface="Calibri" panose="020B0604020202020204" pitchFamily="34" charset="0"/>
              <a:buNone/>
            </a:pPr>
            <a:endParaRPr lang="en-US" b="1">
              <a:latin typeface="Lato"/>
              <a:ea typeface="Lato"/>
              <a:cs typeface="Lato"/>
            </a:endParaRPr>
          </a:p>
        </p:txBody>
      </p:sp>
      <p:sp>
        <p:nvSpPr>
          <p:cNvPr id="4" name="Slide Number Placeholder 3">
            <a:extLst>
              <a:ext uri="{FF2B5EF4-FFF2-40B4-BE49-F238E27FC236}">
                <a16:creationId xmlns:a16="http://schemas.microsoft.com/office/drawing/2014/main" id="{2C0399F2-8426-90E3-101E-67ACC2877627}"/>
              </a:ext>
            </a:extLst>
          </p:cNvPr>
          <p:cNvSpPr>
            <a:spLocks noGrp="1"/>
          </p:cNvSpPr>
          <p:nvPr>
            <p:ph type="sldNum" sz="quarter" idx="12"/>
          </p:nvPr>
        </p:nvSpPr>
        <p:spPr/>
        <p:txBody>
          <a:bodyPr/>
          <a:lstStyle/>
          <a:p>
            <a:fld id="{9EA0BE3B-158A-4EDF-80DC-E394A0D1600F}" type="slidenum">
              <a:rPr lang="en-US" smtClean="0"/>
              <a:pPr/>
              <a:t>14</a:t>
            </a:fld>
            <a:endParaRPr lang="en-US"/>
          </a:p>
        </p:txBody>
      </p:sp>
    </p:spTree>
    <p:extLst>
      <p:ext uri="{BB962C8B-B14F-4D97-AF65-F5344CB8AC3E}">
        <p14:creationId xmlns:p14="http://schemas.microsoft.com/office/powerpoint/2010/main" val="1923273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8DDB5-DB25-8917-0B42-C7E4BF88E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33973-4F9A-256E-60CC-FDB3D397CFB0}"/>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b="0">
              <a:solidFill>
                <a:srgbClr val="000000"/>
              </a:solidFill>
              <a:latin typeface="Lato"/>
              <a:ea typeface="Lato"/>
              <a:cs typeface="Lato"/>
            </a:endParaRPr>
          </a:p>
          <a:p>
            <a:endParaRPr lang="en-US"/>
          </a:p>
        </p:txBody>
      </p:sp>
      <p:sp>
        <p:nvSpPr>
          <p:cNvPr id="3" name="Text Placeholder 2">
            <a:extLst>
              <a:ext uri="{FF2B5EF4-FFF2-40B4-BE49-F238E27FC236}">
                <a16:creationId xmlns:a16="http://schemas.microsoft.com/office/drawing/2014/main" id="{AD2B4E12-57F0-E437-5AF7-57C199FDE304}"/>
              </a:ext>
            </a:extLst>
          </p:cNvPr>
          <p:cNvSpPr>
            <a:spLocks noGrp="1"/>
          </p:cNvSpPr>
          <p:nvPr>
            <p:ph type="body" sz="quarter" idx="13"/>
          </p:nvPr>
        </p:nvSpPr>
        <p:spPr/>
        <p:txBody>
          <a:bodyPr lIns="91440" tIns="45720" rIns="91440" bIns="45720" anchor="t"/>
          <a:lstStyle/>
          <a:p>
            <a:pPr marL="0" indent="0">
              <a:buNone/>
            </a:pPr>
            <a:r>
              <a:rPr lang="en-US" b="1">
                <a:latin typeface="Lato"/>
                <a:ea typeface="Lato"/>
                <a:cs typeface="Lato"/>
              </a:rPr>
              <a:t>Min-Sum algorithm</a:t>
            </a:r>
          </a:p>
          <a:p>
            <a:endParaRPr lang="en-US" b="1">
              <a:latin typeface="Lato"/>
              <a:ea typeface="Lato"/>
              <a:cs typeface="Lato"/>
            </a:endParaRPr>
          </a:p>
        </p:txBody>
      </p:sp>
      <p:sp>
        <p:nvSpPr>
          <p:cNvPr id="4" name="Slide Number Placeholder 3">
            <a:extLst>
              <a:ext uri="{FF2B5EF4-FFF2-40B4-BE49-F238E27FC236}">
                <a16:creationId xmlns:a16="http://schemas.microsoft.com/office/drawing/2014/main" id="{45EE0173-B2F4-C8A3-CA1E-ECA8A9028FE2}"/>
              </a:ext>
            </a:extLst>
          </p:cNvPr>
          <p:cNvSpPr>
            <a:spLocks noGrp="1"/>
          </p:cNvSpPr>
          <p:nvPr>
            <p:ph type="sldNum" sz="quarter" idx="12"/>
          </p:nvPr>
        </p:nvSpPr>
        <p:spPr/>
        <p:txBody>
          <a:bodyPr/>
          <a:lstStyle/>
          <a:p>
            <a:fld id="{9EA0BE3B-158A-4EDF-80DC-E394A0D1600F}" type="slidenum">
              <a:rPr lang="en-US" smtClean="0"/>
              <a:pPr/>
              <a:t>15</a:t>
            </a:fld>
            <a:endParaRPr lang="en-US"/>
          </a:p>
        </p:txBody>
      </p:sp>
      <p:pic>
        <p:nvPicPr>
          <p:cNvPr id="5" name="Picture 4">
            <a:extLst>
              <a:ext uri="{FF2B5EF4-FFF2-40B4-BE49-F238E27FC236}">
                <a16:creationId xmlns:a16="http://schemas.microsoft.com/office/drawing/2014/main" id="{6A6DB2BF-D11F-200B-CC97-8008402072D0}"/>
              </a:ext>
            </a:extLst>
          </p:cNvPr>
          <p:cNvPicPr>
            <a:picLocks noChangeAspect="1"/>
          </p:cNvPicPr>
          <p:nvPr/>
        </p:nvPicPr>
        <p:blipFill>
          <a:blip r:embed="rId2"/>
          <a:stretch>
            <a:fillRect/>
          </a:stretch>
        </p:blipFill>
        <p:spPr>
          <a:xfrm>
            <a:off x="3430125" y="1458849"/>
            <a:ext cx="5136676" cy="1971294"/>
          </a:xfrm>
          <a:prstGeom prst="rect">
            <a:avLst/>
          </a:prstGeom>
        </p:spPr>
      </p:pic>
      <p:pic>
        <p:nvPicPr>
          <p:cNvPr id="6" name="Picture 5">
            <a:extLst>
              <a:ext uri="{FF2B5EF4-FFF2-40B4-BE49-F238E27FC236}">
                <a16:creationId xmlns:a16="http://schemas.microsoft.com/office/drawing/2014/main" id="{6AC55ABF-F6B9-E09D-834E-78A8439940D7}"/>
              </a:ext>
            </a:extLst>
          </p:cNvPr>
          <p:cNvPicPr>
            <a:picLocks noChangeAspect="1"/>
          </p:cNvPicPr>
          <p:nvPr/>
        </p:nvPicPr>
        <p:blipFill>
          <a:blip r:embed="rId3"/>
          <a:stretch>
            <a:fillRect/>
          </a:stretch>
        </p:blipFill>
        <p:spPr>
          <a:xfrm>
            <a:off x="2528021" y="4085792"/>
            <a:ext cx="6948921" cy="2205471"/>
          </a:xfrm>
          <a:prstGeom prst="rect">
            <a:avLst/>
          </a:prstGeom>
        </p:spPr>
      </p:pic>
    </p:spTree>
    <p:extLst>
      <p:ext uri="{BB962C8B-B14F-4D97-AF65-F5344CB8AC3E}">
        <p14:creationId xmlns:p14="http://schemas.microsoft.com/office/powerpoint/2010/main" val="3175648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2A041-0675-080D-1979-D4754288E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FA2F2-B81B-F4F9-F546-CB542B56DB55}"/>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3" name="Text Placeholder 2">
            <a:extLst>
              <a:ext uri="{FF2B5EF4-FFF2-40B4-BE49-F238E27FC236}">
                <a16:creationId xmlns:a16="http://schemas.microsoft.com/office/drawing/2014/main" id="{F9C17B65-3F73-9CD6-3BBF-355364FB2F09}"/>
              </a:ext>
            </a:extLst>
          </p:cNvPr>
          <p:cNvSpPr>
            <a:spLocks noGrp="1"/>
          </p:cNvSpPr>
          <p:nvPr>
            <p:ph type="body" sz="quarter" idx="13"/>
          </p:nvPr>
        </p:nvSpPr>
        <p:spPr>
          <a:xfrm>
            <a:off x="136371" y="1026414"/>
            <a:ext cx="4164898" cy="2411110"/>
          </a:xfrm>
        </p:spPr>
        <p:txBody>
          <a:bodyPr lIns="91440" tIns="45720" rIns="91440" bIns="45720" anchor="t"/>
          <a:lstStyle/>
          <a:p>
            <a:pPr marL="0" indent="0" algn="just">
              <a:buNone/>
            </a:pPr>
            <a:r>
              <a:rPr lang="en-US" sz="1800" b="1">
                <a:latin typeface="Lato"/>
                <a:ea typeface="Lato"/>
                <a:cs typeface="Lato"/>
              </a:rPr>
              <a:t>2.3. QPSK Modulation</a:t>
            </a:r>
          </a:p>
          <a:p>
            <a:pPr marL="285750" indent="-285750" algn="just">
              <a:buFont typeface="Calibri" panose="020B0604020202020204" pitchFamily="34" charset="0"/>
              <a:buChar char="-"/>
            </a:pPr>
            <a:r>
              <a:rPr lang="en-US" sz="1800" b="1">
                <a:latin typeface="Lato"/>
                <a:ea typeface="Lato"/>
                <a:cs typeface="Lato"/>
              </a:rPr>
              <a:t>Bit grouping:</a:t>
            </a:r>
            <a:r>
              <a:rPr lang="en-US" sz="1800">
                <a:latin typeface="Lato"/>
                <a:ea typeface="Lato"/>
                <a:cs typeface="Lato"/>
              </a:rPr>
              <a:t> Processes the bit source by grouping it into pairs of two bits at a time using a step size of 2. In QPSK, each symbol carries exactly 2 bits.</a:t>
            </a:r>
          </a:p>
          <a:p>
            <a:pPr marL="285750" indent="-285750" algn="just">
              <a:buFont typeface="Calibri" panose="020B0604020202020204" pitchFamily="34" charset="0"/>
              <a:buChar char="-"/>
            </a:pPr>
            <a:r>
              <a:rPr lang="en-US" sz="1800" b="1">
                <a:latin typeface="Lato"/>
                <a:ea typeface="Lato"/>
                <a:cs typeface="Lato"/>
              </a:rPr>
              <a:t>Phase mapping:</a:t>
            </a:r>
            <a:r>
              <a:rPr lang="en-US" sz="1800">
                <a:latin typeface="Lato"/>
                <a:ea typeface="Lato"/>
                <a:cs typeface="Lato"/>
              </a:rPr>
              <a:t> Evaluates each 2-bit combination and maps it to a phase angle on a complex plane using Euler's formula.</a:t>
            </a:r>
          </a:p>
        </p:txBody>
      </p:sp>
      <p:sp>
        <p:nvSpPr>
          <p:cNvPr id="6" name="Slide Number Placeholder 5">
            <a:extLst>
              <a:ext uri="{FF2B5EF4-FFF2-40B4-BE49-F238E27FC236}">
                <a16:creationId xmlns:a16="http://schemas.microsoft.com/office/drawing/2014/main" id="{059807A0-0208-AE89-FEDA-D50E4E65940F}"/>
              </a:ext>
            </a:extLst>
          </p:cNvPr>
          <p:cNvSpPr>
            <a:spLocks noGrp="1"/>
          </p:cNvSpPr>
          <p:nvPr>
            <p:ph type="sldNum" sz="quarter" idx="12"/>
          </p:nvPr>
        </p:nvSpPr>
        <p:spPr/>
        <p:txBody>
          <a:bodyPr/>
          <a:lstStyle/>
          <a:p>
            <a:fld id="{9EA0BE3B-158A-4EDF-80DC-E394A0D1600F}" type="slidenum">
              <a:rPr lang="en-US" smtClean="0"/>
              <a:pPr/>
              <a:t>16</a:t>
            </a:fld>
            <a:endParaRPr lang="en-US"/>
          </a:p>
        </p:txBody>
      </p:sp>
      <p:pic>
        <p:nvPicPr>
          <p:cNvPr id="7" name="Picture 6">
            <a:extLst>
              <a:ext uri="{FF2B5EF4-FFF2-40B4-BE49-F238E27FC236}">
                <a16:creationId xmlns:a16="http://schemas.microsoft.com/office/drawing/2014/main" id="{F99761EB-1CEF-D767-830C-CC3F5A6D28F8}"/>
              </a:ext>
            </a:extLst>
          </p:cNvPr>
          <p:cNvPicPr>
            <a:picLocks noChangeAspect="1"/>
          </p:cNvPicPr>
          <p:nvPr/>
        </p:nvPicPr>
        <p:blipFill>
          <a:blip r:embed="rId2"/>
          <a:stretch>
            <a:fillRect/>
          </a:stretch>
        </p:blipFill>
        <p:spPr>
          <a:xfrm>
            <a:off x="5056637" y="1715919"/>
            <a:ext cx="6196932" cy="1940928"/>
          </a:xfrm>
          <a:prstGeom prst="rect">
            <a:avLst/>
          </a:prstGeom>
        </p:spPr>
      </p:pic>
    </p:spTree>
    <p:extLst>
      <p:ext uri="{BB962C8B-B14F-4D97-AF65-F5344CB8AC3E}">
        <p14:creationId xmlns:p14="http://schemas.microsoft.com/office/powerpoint/2010/main" val="181094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86BE7-6046-DC06-C005-580B41F34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9753B-BC1D-6695-2901-3E3E3C75B561}"/>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3" name="Text Placeholder 2">
            <a:extLst>
              <a:ext uri="{FF2B5EF4-FFF2-40B4-BE49-F238E27FC236}">
                <a16:creationId xmlns:a16="http://schemas.microsoft.com/office/drawing/2014/main" id="{15459DE7-55BD-7F35-6FCD-88A0D3852CD7}"/>
              </a:ext>
            </a:extLst>
          </p:cNvPr>
          <p:cNvSpPr>
            <a:spLocks noGrp="1"/>
          </p:cNvSpPr>
          <p:nvPr>
            <p:ph type="body" sz="quarter" idx="13"/>
          </p:nvPr>
        </p:nvSpPr>
        <p:spPr>
          <a:xfrm>
            <a:off x="136371" y="1026414"/>
            <a:ext cx="4164898" cy="2411110"/>
          </a:xfrm>
        </p:spPr>
        <p:txBody>
          <a:bodyPr lIns="91440" tIns="45720" rIns="91440" bIns="45720" anchor="t"/>
          <a:lstStyle/>
          <a:p>
            <a:pPr marL="0" indent="0" algn="just">
              <a:buNone/>
            </a:pPr>
            <a:r>
              <a:rPr lang="en-US" sz="1800" b="1">
                <a:latin typeface="Lato"/>
                <a:ea typeface="Lato"/>
                <a:cs typeface="Lato"/>
              </a:rPr>
              <a:t>2.3. QPSK Modulation</a:t>
            </a:r>
          </a:p>
        </p:txBody>
      </p:sp>
      <p:sp>
        <p:nvSpPr>
          <p:cNvPr id="6" name="Slide Number Placeholder 5">
            <a:extLst>
              <a:ext uri="{FF2B5EF4-FFF2-40B4-BE49-F238E27FC236}">
                <a16:creationId xmlns:a16="http://schemas.microsoft.com/office/drawing/2014/main" id="{C36782E8-5BAB-F1AA-A34F-44984B6DFA01}"/>
              </a:ext>
            </a:extLst>
          </p:cNvPr>
          <p:cNvSpPr>
            <a:spLocks noGrp="1"/>
          </p:cNvSpPr>
          <p:nvPr>
            <p:ph type="sldNum" sz="quarter" idx="12"/>
          </p:nvPr>
        </p:nvSpPr>
        <p:spPr/>
        <p:txBody>
          <a:bodyPr/>
          <a:lstStyle/>
          <a:p>
            <a:fld id="{9EA0BE3B-158A-4EDF-80DC-E394A0D1600F}" type="slidenum">
              <a:rPr lang="en-US" smtClean="0"/>
              <a:pPr/>
              <a:t>17</a:t>
            </a:fld>
            <a:endParaRPr lang="en-US"/>
          </a:p>
        </p:txBody>
      </p:sp>
      <p:pic>
        <p:nvPicPr>
          <p:cNvPr id="10" name="Picture 9" descr="A grid of red dots&#10;&#10;AI-generated content may be incorrect.">
            <a:extLst>
              <a:ext uri="{FF2B5EF4-FFF2-40B4-BE49-F238E27FC236}">
                <a16:creationId xmlns:a16="http://schemas.microsoft.com/office/drawing/2014/main" id="{2B91BD6F-0CEB-CC8A-C10A-6BF58FB67CA6}"/>
              </a:ext>
            </a:extLst>
          </p:cNvPr>
          <p:cNvPicPr>
            <a:picLocks noChangeAspect="1"/>
          </p:cNvPicPr>
          <p:nvPr/>
        </p:nvPicPr>
        <p:blipFill>
          <a:blip r:embed="rId2"/>
          <a:stretch>
            <a:fillRect/>
          </a:stretch>
        </p:blipFill>
        <p:spPr>
          <a:xfrm>
            <a:off x="5865133" y="2405335"/>
            <a:ext cx="5808032" cy="3397698"/>
          </a:xfrm>
          <a:prstGeom prst="rect">
            <a:avLst/>
          </a:prstGeom>
        </p:spPr>
      </p:pic>
      <p:pic>
        <p:nvPicPr>
          <p:cNvPr id="4" name="Picture 3">
            <a:extLst>
              <a:ext uri="{FF2B5EF4-FFF2-40B4-BE49-F238E27FC236}">
                <a16:creationId xmlns:a16="http://schemas.microsoft.com/office/drawing/2014/main" id="{D38E50E7-F52B-7DF3-2CDE-34D0920473E1}"/>
              </a:ext>
            </a:extLst>
          </p:cNvPr>
          <p:cNvPicPr>
            <a:picLocks noChangeAspect="1"/>
          </p:cNvPicPr>
          <p:nvPr/>
        </p:nvPicPr>
        <p:blipFill>
          <a:blip r:embed="rId3"/>
          <a:stretch>
            <a:fillRect/>
          </a:stretch>
        </p:blipFill>
        <p:spPr>
          <a:xfrm>
            <a:off x="863851" y="2314741"/>
            <a:ext cx="4669089" cy="3572043"/>
          </a:xfrm>
          <a:prstGeom prst="rect">
            <a:avLst/>
          </a:prstGeom>
        </p:spPr>
      </p:pic>
    </p:spTree>
    <p:extLst>
      <p:ext uri="{BB962C8B-B14F-4D97-AF65-F5344CB8AC3E}">
        <p14:creationId xmlns:p14="http://schemas.microsoft.com/office/powerpoint/2010/main" val="2561536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9B7C-A14A-740D-C847-4DFFE975E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BB99C-064C-2075-6B6E-48C85F54BBC9}"/>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3" name="Text Placeholder 2">
            <a:extLst>
              <a:ext uri="{FF2B5EF4-FFF2-40B4-BE49-F238E27FC236}">
                <a16:creationId xmlns:a16="http://schemas.microsoft.com/office/drawing/2014/main" id="{E3D67F4B-3D19-7B42-627B-F0ED52202BED}"/>
              </a:ext>
            </a:extLst>
          </p:cNvPr>
          <p:cNvSpPr>
            <a:spLocks noGrp="1"/>
          </p:cNvSpPr>
          <p:nvPr>
            <p:ph type="body" sz="quarter" idx="13"/>
          </p:nvPr>
        </p:nvSpPr>
        <p:spPr>
          <a:xfrm>
            <a:off x="136371" y="1026414"/>
            <a:ext cx="4164898" cy="2411110"/>
          </a:xfrm>
        </p:spPr>
        <p:txBody>
          <a:bodyPr lIns="91440" tIns="45720" rIns="91440" bIns="45720" anchor="t"/>
          <a:lstStyle/>
          <a:p>
            <a:pPr marL="0" indent="0" algn="just">
              <a:buNone/>
            </a:pPr>
            <a:r>
              <a:rPr lang="en-US" sz="1800" b="1">
                <a:latin typeface="Lato"/>
                <a:ea typeface="Lato"/>
                <a:cs typeface="Lato"/>
              </a:rPr>
              <a:t>2.3. QPSK Modulation</a:t>
            </a:r>
          </a:p>
        </p:txBody>
      </p:sp>
      <p:sp>
        <p:nvSpPr>
          <p:cNvPr id="6" name="Slide Number Placeholder 5">
            <a:extLst>
              <a:ext uri="{FF2B5EF4-FFF2-40B4-BE49-F238E27FC236}">
                <a16:creationId xmlns:a16="http://schemas.microsoft.com/office/drawing/2014/main" id="{821A9F4B-C6F3-1615-73EE-2A9E7777E226}"/>
              </a:ext>
            </a:extLst>
          </p:cNvPr>
          <p:cNvSpPr>
            <a:spLocks noGrp="1"/>
          </p:cNvSpPr>
          <p:nvPr>
            <p:ph type="sldNum" sz="quarter" idx="12"/>
          </p:nvPr>
        </p:nvSpPr>
        <p:spPr/>
        <p:txBody>
          <a:bodyPr/>
          <a:lstStyle/>
          <a:p>
            <a:fld id="{9EA0BE3B-158A-4EDF-80DC-E394A0D1600F}" type="slidenum">
              <a:rPr lang="en-US" smtClean="0"/>
              <a:pPr/>
              <a:t>18</a:t>
            </a:fld>
            <a:endParaRPr lang="en-US"/>
          </a:p>
        </p:txBody>
      </p:sp>
      <p:pic>
        <p:nvPicPr>
          <p:cNvPr id="4" name="Picture 3">
            <a:extLst>
              <a:ext uri="{FF2B5EF4-FFF2-40B4-BE49-F238E27FC236}">
                <a16:creationId xmlns:a16="http://schemas.microsoft.com/office/drawing/2014/main" id="{95C6D7FC-CB3A-B444-4ED5-F450A80B59D4}"/>
              </a:ext>
            </a:extLst>
          </p:cNvPr>
          <p:cNvPicPr>
            <a:picLocks noChangeAspect="1"/>
          </p:cNvPicPr>
          <p:nvPr/>
        </p:nvPicPr>
        <p:blipFill>
          <a:blip r:embed="rId2"/>
          <a:stretch>
            <a:fillRect/>
          </a:stretch>
        </p:blipFill>
        <p:spPr>
          <a:xfrm>
            <a:off x="6943264" y="1824110"/>
            <a:ext cx="4434840" cy="1872615"/>
          </a:xfrm>
          <a:prstGeom prst="rect">
            <a:avLst/>
          </a:prstGeom>
        </p:spPr>
      </p:pic>
      <p:pic>
        <p:nvPicPr>
          <p:cNvPr id="5" name="Picture 4" descr="A graph of a function&#10;&#10;AI-generated content may be incorrect.">
            <a:extLst>
              <a:ext uri="{FF2B5EF4-FFF2-40B4-BE49-F238E27FC236}">
                <a16:creationId xmlns:a16="http://schemas.microsoft.com/office/drawing/2014/main" id="{113A32FF-B8F2-93F2-876E-E93DA95DCCF0}"/>
              </a:ext>
            </a:extLst>
          </p:cNvPr>
          <p:cNvPicPr>
            <a:picLocks noChangeAspect="1"/>
          </p:cNvPicPr>
          <p:nvPr/>
        </p:nvPicPr>
        <p:blipFill>
          <a:blip r:embed="rId3"/>
          <a:stretch>
            <a:fillRect/>
          </a:stretch>
        </p:blipFill>
        <p:spPr>
          <a:xfrm>
            <a:off x="6945376" y="4025382"/>
            <a:ext cx="4430983" cy="1933795"/>
          </a:xfrm>
          <a:prstGeom prst="rect">
            <a:avLst/>
          </a:prstGeom>
        </p:spPr>
      </p:pic>
      <p:pic>
        <p:nvPicPr>
          <p:cNvPr id="7" name="Picture 6" descr="A diagram of a block diagram&#10;&#10;AI-generated content may be incorrect.">
            <a:extLst>
              <a:ext uri="{FF2B5EF4-FFF2-40B4-BE49-F238E27FC236}">
                <a16:creationId xmlns:a16="http://schemas.microsoft.com/office/drawing/2014/main" id="{3F1A72E6-E360-7C42-B5A5-A3F109FFC55C}"/>
              </a:ext>
            </a:extLst>
          </p:cNvPr>
          <p:cNvPicPr>
            <a:picLocks noChangeAspect="1"/>
          </p:cNvPicPr>
          <p:nvPr/>
        </p:nvPicPr>
        <p:blipFill>
          <a:blip r:embed="rId4"/>
          <a:stretch>
            <a:fillRect/>
          </a:stretch>
        </p:blipFill>
        <p:spPr>
          <a:xfrm>
            <a:off x="339852" y="2026349"/>
            <a:ext cx="5755386" cy="2967990"/>
          </a:xfrm>
          <a:prstGeom prst="rect">
            <a:avLst/>
          </a:prstGeom>
        </p:spPr>
      </p:pic>
    </p:spTree>
    <p:extLst>
      <p:ext uri="{BB962C8B-B14F-4D97-AF65-F5344CB8AC3E}">
        <p14:creationId xmlns:p14="http://schemas.microsoft.com/office/powerpoint/2010/main" val="1381685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D4D18-4219-A517-4A89-E93463CE9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F3184-8F83-E5B7-A192-D19C1E556ED5}"/>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3" name="Text Placeholder 2">
            <a:extLst>
              <a:ext uri="{FF2B5EF4-FFF2-40B4-BE49-F238E27FC236}">
                <a16:creationId xmlns:a16="http://schemas.microsoft.com/office/drawing/2014/main" id="{BDCF1EB5-5BF4-C0FD-3BA9-07A31981860D}"/>
              </a:ext>
            </a:extLst>
          </p:cNvPr>
          <p:cNvSpPr>
            <a:spLocks noGrp="1"/>
          </p:cNvSpPr>
          <p:nvPr>
            <p:ph type="body" sz="quarter" idx="13"/>
          </p:nvPr>
        </p:nvSpPr>
        <p:spPr>
          <a:xfrm>
            <a:off x="136371" y="1026414"/>
            <a:ext cx="5047869" cy="4938713"/>
          </a:xfrm>
        </p:spPr>
        <p:txBody>
          <a:bodyPr lIns="91440" tIns="45720" rIns="91440" bIns="45720" anchor="t"/>
          <a:lstStyle/>
          <a:p>
            <a:pPr marL="0" indent="0" algn="just">
              <a:buNone/>
            </a:pPr>
            <a:r>
              <a:rPr lang="en-US" sz="1800" b="1">
                <a:latin typeface="Lato"/>
                <a:ea typeface="Lato"/>
                <a:cs typeface="Lato"/>
              </a:rPr>
              <a:t>2.4. Rayleigh fading channels:</a:t>
            </a:r>
            <a:endParaRPr lang="en-US" b="1"/>
          </a:p>
          <a:p>
            <a:pPr marL="285750" indent="-285750" algn="just"/>
            <a:r>
              <a:rPr lang="en-US" sz="1800">
                <a:latin typeface="Lato"/>
                <a:ea typeface="Lato"/>
                <a:cs typeface="Lato"/>
              </a:rPr>
              <a:t>Mathematical model used to describe realistic wireless propagation environments. It is primarily characterized by multipath propagation under Non-Line of Sight (NLOS) conditions.</a:t>
            </a:r>
          </a:p>
          <a:p>
            <a:pPr marL="285750" indent="-285750" algn="just"/>
            <a:r>
              <a:rPr lang="en-US" sz="1800">
                <a:latin typeface="Lato"/>
                <a:ea typeface="Lato"/>
                <a:cs typeface="Lato"/>
              </a:rPr>
              <a:t>How signal change:</a:t>
            </a:r>
          </a:p>
          <a:p>
            <a:pPr marL="742950" lvl="1" indent="-285750" algn="just">
              <a:buFont typeface="Courier New" panose="020B0604020202020204" pitchFamily="34" charset="0"/>
              <a:buChar char="o"/>
            </a:pPr>
            <a:r>
              <a:rPr lang="en-US" sz="1800">
                <a:latin typeface="Lato"/>
                <a:ea typeface="Lato"/>
                <a:cs typeface="Lato"/>
              </a:rPr>
              <a:t>Amplitude Changes (Fading &amp; Deep Fades)</a:t>
            </a:r>
          </a:p>
          <a:p>
            <a:pPr marL="742950" lvl="1" indent="-285750" algn="just">
              <a:buFont typeface="Courier New" panose="020B0604020202020204" pitchFamily="34" charset="0"/>
              <a:buChar char="o"/>
            </a:pPr>
            <a:r>
              <a:rPr lang="en-US" sz="1800">
                <a:latin typeface="Lato"/>
                <a:ea typeface="Lato"/>
                <a:cs typeface="Lato"/>
              </a:rPr>
              <a:t>Phase Changes (Random Phase Shift)</a:t>
            </a:r>
          </a:p>
          <a:p>
            <a:pPr marL="742950" lvl="1" indent="-285750" algn="just">
              <a:buFont typeface="Courier New" panose="020B0604020202020204" pitchFamily="34" charset="0"/>
              <a:buChar char="o"/>
            </a:pPr>
            <a:r>
              <a:rPr lang="en-US" sz="1800">
                <a:latin typeface="Lato"/>
                <a:ea typeface="Lato"/>
                <a:cs typeface="Lato"/>
              </a:rPr>
              <a:t>Frequency Changes (Doppler Spread)</a:t>
            </a:r>
          </a:p>
        </p:txBody>
      </p:sp>
      <p:sp>
        <p:nvSpPr>
          <p:cNvPr id="6" name="Slide Number Placeholder 5">
            <a:extLst>
              <a:ext uri="{FF2B5EF4-FFF2-40B4-BE49-F238E27FC236}">
                <a16:creationId xmlns:a16="http://schemas.microsoft.com/office/drawing/2014/main" id="{08FF458E-8FC2-7E32-A884-308F0E00C3B0}"/>
              </a:ext>
            </a:extLst>
          </p:cNvPr>
          <p:cNvSpPr>
            <a:spLocks noGrp="1"/>
          </p:cNvSpPr>
          <p:nvPr>
            <p:ph type="sldNum" sz="quarter" idx="12"/>
          </p:nvPr>
        </p:nvSpPr>
        <p:spPr/>
        <p:txBody>
          <a:bodyPr/>
          <a:lstStyle/>
          <a:p>
            <a:fld id="{9EA0BE3B-158A-4EDF-80DC-E394A0D1600F}" type="slidenum">
              <a:rPr lang="en-US" smtClean="0"/>
              <a:pPr/>
              <a:t>19</a:t>
            </a:fld>
            <a:endParaRPr lang="en-US"/>
          </a:p>
        </p:txBody>
      </p:sp>
      <p:pic>
        <p:nvPicPr>
          <p:cNvPr id="5" name="Picture 4">
            <a:extLst>
              <a:ext uri="{FF2B5EF4-FFF2-40B4-BE49-F238E27FC236}">
                <a16:creationId xmlns:a16="http://schemas.microsoft.com/office/drawing/2014/main" id="{B04F537C-6ACB-2E1C-B841-68658A8339DC}"/>
              </a:ext>
            </a:extLst>
          </p:cNvPr>
          <p:cNvPicPr>
            <a:picLocks noChangeAspect="1"/>
          </p:cNvPicPr>
          <p:nvPr/>
        </p:nvPicPr>
        <p:blipFill>
          <a:blip r:embed="rId2"/>
          <a:stretch>
            <a:fillRect/>
          </a:stretch>
        </p:blipFill>
        <p:spPr>
          <a:xfrm>
            <a:off x="6094754" y="4991258"/>
            <a:ext cx="5442238" cy="1503218"/>
          </a:xfrm>
          <a:prstGeom prst="rect">
            <a:avLst/>
          </a:prstGeom>
        </p:spPr>
      </p:pic>
      <p:pic>
        <p:nvPicPr>
          <p:cNvPr id="4" name="Picture 3" descr="A diagram of a mathematical algorithm&#10;&#10;AI-generated content may be incorrect.">
            <a:extLst>
              <a:ext uri="{FF2B5EF4-FFF2-40B4-BE49-F238E27FC236}">
                <a16:creationId xmlns:a16="http://schemas.microsoft.com/office/drawing/2014/main" id="{35C546AE-8A0B-38CB-D690-28A45496946A}"/>
              </a:ext>
            </a:extLst>
          </p:cNvPr>
          <p:cNvPicPr>
            <a:picLocks noChangeAspect="1"/>
          </p:cNvPicPr>
          <p:nvPr/>
        </p:nvPicPr>
        <p:blipFill>
          <a:blip r:embed="rId3"/>
          <a:stretch>
            <a:fillRect/>
          </a:stretch>
        </p:blipFill>
        <p:spPr>
          <a:xfrm>
            <a:off x="6350083" y="928270"/>
            <a:ext cx="4638675" cy="3143250"/>
          </a:xfrm>
          <a:prstGeom prst="rect">
            <a:avLst/>
          </a:prstGeom>
        </p:spPr>
      </p:pic>
    </p:spTree>
    <p:extLst>
      <p:ext uri="{BB962C8B-B14F-4D97-AF65-F5344CB8AC3E}">
        <p14:creationId xmlns:p14="http://schemas.microsoft.com/office/powerpoint/2010/main" val="2687609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D98A6-7CBE-391E-C7DA-0D7953504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EE561-1A0E-ABCF-86E7-04885C71D1C4}"/>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6" name="Slide Number Placeholder 5">
            <a:extLst>
              <a:ext uri="{FF2B5EF4-FFF2-40B4-BE49-F238E27FC236}">
                <a16:creationId xmlns:a16="http://schemas.microsoft.com/office/drawing/2014/main" id="{6630781E-3A30-148B-F2AB-5BE6D2167433}"/>
              </a:ext>
            </a:extLst>
          </p:cNvPr>
          <p:cNvSpPr>
            <a:spLocks noGrp="1"/>
          </p:cNvSpPr>
          <p:nvPr>
            <p:ph type="sldNum" sz="quarter" idx="12"/>
          </p:nvPr>
        </p:nvSpPr>
        <p:spPr/>
        <p:txBody>
          <a:bodyPr/>
          <a:lstStyle/>
          <a:p>
            <a:fld id="{9EA0BE3B-158A-4EDF-80DC-E394A0D1600F}" type="slidenum">
              <a:rPr lang="en-US" smtClean="0"/>
              <a:pPr/>
              <a:t>20</a:t>
            </a:fld>
            <a:endParaRPr lang="en-US"/>
          </a:p>
        </p:txBody>
      </p:sp>
      <p:sp>
        <p:nvSpPr>
          <p:cNvPr id="8" name="Text Placeholder 7">
            <a:extLst>
              <a:ext uri="{FF2B5EF4-FFF2-40B4-BE49-F238E27FC236}">
                <a16:creationId xmlns:a16="http://schemas.microsoft.com/office/drawing/2014/main" id="{5E28DBA1-022B-03F8-ECD3-F14040BBE5CB}"/>
              </a:ext>
            </a:extLst>
          </p:cNvPr>
          <p:cNvSpPr>
            <a:spLocks noGrp="1"/>
          </p:cNvSpPr>
          <p:nvPr>
            <p:ph type="body" sz="quarter" idx="13"/>
          </p:nvPr>
        </p:nvSpPr>
        <p:spPr/>
        <p:txBody>
          <a:bodyPr/>
          <a:lstStyle/>
          <a:p>
            <a:endParaRPr lang="en-US"/>
          </a:p>
        </p:txBody>
      </p:sp>
      <p:pic>
        <p:nvPicPr>
          <p:cNvPr id="10" name="Picture 9" descr="A screenshot of a computer program&#10;&#10;AI-generated content may be incorrect.">
            <a:extLst>
              <a:ext uri="{FF2B5EF4-FFF2-40B4-BE49-F238E27FC236}">
                <a16:creationId xmlns:a16="http://schemas.microsoft.com/office/drawing/2014/main" id="{E85A4519-2E02-6BD5-2B4D-1E84B1748EDA}"/>
              </a:ext>
            </a:extLst>
          </p:cNvPr>
          <p:cNvPicPr>
            <a:picLocks noChangeAspect="1"/>
          </p:cNvPicPr>
          <p:nvPr/>
        </p:nvPicPr>
        <p:blipFill>
          <a:blip r:embed="rId2"/>
          <a:stretch>
            <a:fillRect/>
          </a:stretch>
        </p:blipFill>
        <p:spPr>
          <a:xfrm>
            <a:off x="1233377" y="1571403"/>
            <a:ext cx="9149316" cy="4246820"/>
          </a:xfrm>
          <a:prstGeom prst="rect">
            <a:avLst/>
          </a:prstGeom>
        </p:spPr>
      </p:pic>
    </p:spTree>
    <p:extLst>
      <p:ext uri="{BB962C8B-B14F-4D97-AF65-F5344CB8AC3E}">
        <p14:creationId xmlns:p14="http://schemas.microsoft.com/office/powerpoint/2010/main" val="2210711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BC5A-B1FE-8E89-8691-CA3DBBB76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57716-43FA-FBEF-59F9-58268C0B90F9}"/>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6" name="Slide Number Placeholder 5">
            <a:extLst>
              <a:ext uri="{FF2B5EF4-FFF2-40B4-BE49-F238E27FC236}">
                <a16:creationId xmlns:a16="http://schemas.microsoft.com/office/drawing/2014/main" id="{E0A3A6B8-9D73-22D8-AAB0-8981CD7B710E}"/>
              </a:ext>
            </a:extLst>
          </p:cNvPr>
          <p:cNvSpPr>
            <a:spLocks noGrp="1"/>
          </p:cNvSpPr>
          <p:nvPr>
            <p:ph type="sldNum" sz="quarter" idx="12"/>
          </p:nvPr>
        </p:nvSpPr>
        <p:spPr/>
        <p:txBody>
          <a:bodyPr/>
          <a:lstStyle/>
          <a:p>
            <a:fld id="{9EA0BE3B-158A-4EDF-80DC-E394A0D1600F}" type="slidenum">
              <a:rPr lang="en-US" smtClean="0"/>
              <a:pPr/>
              <a:t>21</a:t>
            </a:fld>
            <a:endParaRPr lang="en-US"/>
          </a:p>
        </p:txBody>
      </p:sp>
      <p:sp>
        <p:nvSpPr>
          <p:cNvPr id="8" name="Text Placeholder 7">
            <a:extLst>
              <a:ext uri="{FF2B5EF4-FFF2-40B4-BE49-F238E27FC236}">
                <a16:creationId xmlns:a16="http://schemas.microsoft.com/office/drawing/2014/main" id="{0D770463-AE9E-A8FE-8735-8843670D6D90}"/>
              </a:ext>
            </a:extLst>
          </p:cNvPr>
          <p:cNvSpPr>
            <a:spLocks noGrp="1"/>
          </p:cNvSpPr>
          <p:nvPr>
            <p:ph type="body" sz="quarter" idx="13"/>
          </p:nvPr>
        </p:nvSpPr>
        <p:spPr/>
        <p:txBody>
          <a:bodyPr/>
          <a:lstStyle/>
          <a:p>
            <a:endParaRPr lang="en-US"/>
          </a:p>
        </p:txBody>
      </p:sp>
      <p:pic>
        <p:nvPicPr>
          <p:cNvPr id="9" name="Picture 8" descr="A computer screen shot of symbols&#10;&#10;AI-generated content may be incorrect.">
            <a:extLst>
              <a:ext uri="{FF2B5EF4-FFF2-40B4-BE49-F238E27FC236}">
                <a16:creationId xmlns:a16="http://schemas.microsoft.com/office/drawing/2014/main" id="{ADF21F9F-FA67-7D58-F7E4-952E152D4F83}"/>
              </a:ext>
            </a:extLst>
          </p:cNvPr>
          <p:cNvPicPr>
            <a:picLocks noChangeAspect="1"/>
          </p:cNvPicPr>
          <p:nvPr/>
        </p:nvPicPr>
        <p:blipFill>
          <a:blip r:embed="rId2"/>
          <a:stretch>
            <a:fillRect/>
          </a:stretch>
        </p:blipFill>
        <p:spPr>
          <a:xfrm>
            <a:off x="2232173" y="1889052"/>
            <a:ext cx="8140552" cy="3238119"/>
          </a:xfrm>
          <a:prstGeom prst="rect">
            <a:avLst/>
          </a:prstGeom>
        </p:spPr>
      </p:pic>
    </p:spTree>
    <p:extLst>
      <p:ext uri="{BB962C8B-B14F-4D97-AF65-F5344CB8AC3E}">
        <p14:creationId xmlns:p14="http://schemas.microsoft.com/office/powerpoint/2010/main" val="2851051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0C5A1-E66B-3769-9981-500D71483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5657F-E97E-C3F5-F7EC-426F5932F53C}"/>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3" name="Text Placeholder 2">
            <a:extLst>
              <a:ext uri="{FF2B5EF4-FFF2-40B4-BE49-F238E27FC236}">
                <a16:creationId xmlns:a16="http://schemas.microsoft.com/office/drawing/2014/main" id="{4C1C1822-F27F-AC9D-80D3-5357A249F3AC}"/>
              </a:ext>
            </a:extLst>
          </p:cNvPr>
          <p:cNvSpPr>
            <a:spLocks noGrp="1"/>
          </p:cNvSpPr>
          <p:nvPr>
            <p:ph type="body" sz="quarter" idx="13"/>
          </p:nvPr>
        </p:nvSpPr>
        <p:spPr>
          <a:xfrm>
            <a:off x="136371" y="1026414"/>
            <a:ext cx="10737577" cy="4938713"/>
          </a:xfrm>
        </p:spPr>
        <p:txBody>
          <a:bodyPr lIns="91440" tIns="45720" rIns="91440" bIns="45720" anchor="t"/>
          <a:lstStyle/>
          <a:p>
            <a:pPr marL="0" indent="0" algn="just">
              <a:buNone/>
            </a:pPr>
            <a:r>
              <a:rPr lang="en-US" sz="1800" b="1">
                <a:latin typeface="Lato"/>
                <a:ea typeface="Lato"/>
                <a:cs typeface="Lato"/>
              </a:rPr>
              <a:t>2.5. AWGN:</a:t>
            </a:r>
            <a:endParaRPr lang="en-US" b="1"/>
          </a:p>
          <a:p>
            <a:pPr algn="just"/>
            <a:r>
              <a:rPr lang="en-US" sz="1800" b="1">
                <a:latin typeface="Lato"/>
                <a:ea typeface="Lato"/>
                <a:cs typeface="Lato"/>
              </a:rPr>
              <a:t>Additive:</a:t>
            </a:r>
            <a:r>
              <a:rPr lang="en-US" sz="1800">
                <a:latin typeface="Lato"/>
                <a:ea typeface="Lato"/>
                <a:cs typeface="Lato"/>
              </a:rPr>
              <a:t> The noise is added to the transmitted signal.</a:t>
            </a:r>
            <a:endParaRPr lang="en-US" sz="1800"/>
          </a:p>
          <a:p>
            <a:pPr algn="just"/>
            <a:r>
              <a:rPr lang="en-US" sz="1800" b="1">
                <a:latin typeface="Lato"/>
                <a:ea typeface="Lato"/>
                <a:cs typeface="Lato"/>
              </a:rPr>
              <a:t>White:</a:t>
            </a:r>
            <a:r>
              <a:rPr lang="en-US" sz="1800">
                <a:latin typeface="Lato"/>
                <a:ea typeface="Lato"/>
                <a:cs typeface="Lato"/>
              </a:rPr>
              <a:t> The noise has a flat power spectral density across all frequencies.</a:t>
            </a:r>
            <a:endParaRPr lang="en-US" sz="1800"/>
          </a:p>
          <a:p>
            <a:pPr algn="just"/>
            <a:r>
              <a:rPr lang="en-US" sz="1800" b="1">
                <a:latin typeface="Lato"/>
                <a:ea typeface="Lato"/>
                <a:cs typeface="Lato"/>
              </a:rPr>
              <a:t>Gaussian:</a:t>
            </a:r>
            <a:r>
              <a:rPr lang="en-US" sz="1800">
                <a:latin typeface="Lato"/>
                <a:ea typeface="Lato"/>
                <a:cs typeface="Lato"/>
              </a:rPr>
              <a:t> The amplitude of the noise follows a Gaussian distribution.</a:t>
            </a:r>
            <a:endParaRPr lang="en-US" sz="1800"/>
          </a:p>
          <a:p>
            <a:pPr algn="just"/>
            <a:endParaRPr lang="en-US" sz="1800"/>
          </a:p>
        </p:txBody>
      </p:sp>
      <p:sp>
        <p:nvSpPr>
          <p:cNvPr id="6" name="Slide Number Placeholder 5">
            <a:extLst>
              <a:ext uri="{FF2B5EF4-FFF2-40B4-BE49-F238E27FC236}">
                <a16:creationId xmlns:a16="http://schemas.microsoft.com/office/drawing/2014/main" id="{3223B5A6-AB5B-951D-D84E-95391AD4A621}"/>
              </a:ext>
            </a:extLst>
          </p:cNvPr>
          <p:cNvSpPr>
            <a:spLocks noGrp="1"/>
          </p:cNvSpPr>
          <p:nvPr>
            <p:ph type="sldNum" sz="quarter" idx="12"/>
          </p:nvPr>
        </p:nvSpPr>
        <p:spPr/>
        <p:txBody>
          <a:bodyPr/>
          <a:lstStyle/>
          <a:p>
            <a:fld id="{9EA0BE3B-158A-4EDF-80DC-E394A0D1600F}" type="slidenum">
              <a:rPr lang="en-US" smtClean="0"/>
              <a:pPr/>
              <a:t>22</a:t>
            </a:fld>
            <a:endParaRPr lang="en-US"/>
          </a:p>
        </p:txBody>
      </p:sp>
      <p:pic>
        <p:nvPicPr>
          <p:cNvPr id="8" name="Picture 7" descr="A group of blue dots&#10;&#10;AI-generated content may be incorrect.">
            <a:extLst>
              <a:ext uri="{FF2B5EF4-FFF2-40B4-BE49-F238E27FC236}">
                <a16:creationId xmlns:a16="http://schemas.microsoft.com/office/drawing/2014/main" id="{7AFCB799-B7A7-C203-72BF-3D1A76738E2C}"/>
              </a:ext>
            </a:extLst>
          </p:cNvPr>
          <p:cNvPicPr>
            <a:picLocks noChangeAspect="1"/>
          </p:cNvPicPr>
          <p:nvPr/>
        </p:nvPicPr>
        <p:blipFill>
          <a:blip r:embed="rId2"/>
          <a:stretch>
            <a:fillRect/>
          </a:stretch>
        </p:blipFill>
        <p:spPr>
          <a:xfrm>
            <a:off x="2365231" y="2773074"/>
            <a:ext cx="6276975" cy="3715616"/>
          </a:xfrm>
          <a:prstGeom prst="rect">
            <a:avLst/>
          </a:prstGeom>
        </p:spPr>
      </p:pic>
    </p:spTree>
    <p:extLst>
      <p:ext uri="{BB962C8B-B14F-4D97-AF65-F5344CB8AC3E}">
        <p14:creationId xmlns:p14="http://schemas.microsoft.com/office/powerpoint/2010/main" val="321810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652D-5550-9061-C7F4-F76AF32F5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552D2-6401-0AFA-6323-097FCE0FD2EE}"/>
              </a:ext>
            </a:extLst>
          </p:cNvPr>
          <p:cNvSpPr>
            <a:spLocks noGrp="1"/>
          </p:cNvSpPr>
          <p:nvPr>
            <p:ph type="title"/>
          </p:nvPr>
        </p:nvSpPr>
        <p:spPr/>
        <p:txBody>
          <a:bodyPr lIns="91440" tIns="45720" rIns="91440" bIns="45720" anchor="t"/>
          <a:lstStyle/>
          <a:p>
            <a:r>
              <a:rPr lang="en-US">
                <a:latin typeface="Lato"/>
                <a:ea typeface="Lato"/>
                <a:cs typeface="Lato"/>
              </a:rPr>
              <a:t>2. METHOD</a:t>
            </a:r>
            <a:endParaRPr lang="en-US"/>
          </a:p>
        </p:txBody>
      </p:sp>
      <p:sp>
        <p:nvSpPr>
          <p:cNvPr id="3" name="Text Placeholder 2">
            <a:extLst>
              <a:ext uri="{FF2B5EF4-FFF2-40B4-BE49-F238E27FC236}">
                <a16:creationId xmlns:a16="http://schemas.microsoft.com/office/drawing/2014/main" id="{8D73DD9C-7EFB-33A3-6D8B-E69517C0AE07}"/>
              </a:ext>
            </a:extLst>
          </p:cNvPr>
          <p:cNvSpPr>
            <a:spLocks noGrp="1"/>
          </p:cNvSpPr>
          <p:nvPr>
            <p:ph type="body" sz="quarter" idx="13"/>
          </p:nvPr>
        </p:nvSpPr>
        <p:spPr>
          <a:xfrm>
            <a:off x="136371" y="1026414"/>
            <a:ext cx="6668706" cy="2398087"/>
          </a:xfrm>
        </p:spPr>
        <p:txBody>
          <a:bodyPr lIns="91440" tIns="45720" rIns="91440" bIns="45720" anchor="t"/>
          <a:lstStyle/>
          <a:p>
            <a:pPr marL="0" indent="0" algn="just">
              <a:buNone/>
            </a:pPr>
            <a:r>
              <a:rPr lang="en-US" sz="1800" b="1">
                <a:latin typeface="Lato"/>
                <a:ea typeface="Lato"/>
                <a:cs typeface="Lato"/>
              </a:rPr>
              <a:t>2.6. Rayleigh fading channel + AWGN + QPSK demodulation</a:t>
            </a:r>
            <a:endParaRPr lang="en-US"/>
          </a:p>
          <a:p>
            <a:pPr marL="285750" indent="-285750" algn="just">
              <a:buFont typeface="Calibri" panose="020B0604020202020204" pitchFamily="34" charset="0"/>
              <a:buChar char="-"/>
            </a:pPr>
            <a:r>
              <a:rPr lang="en-US" sz="1800" b="1">
                <a:latin typeface="Lato"/>
                <a:ea typeface="Lato"/>
                <a:cs typeface="Lato"/>
              </a:rPr>
              <a:t>Channel propagation:</a:t>
            </a:r>
            <a:r>
              <a:rPr lang="en-US" sz="1800">
                <a:latin typeface="Lato"/>
                <a:ea typeface="Lato"/>
                <a:cs typeface="Lato"/>
              </a:rPr>
              <a:t> The transmitted signal X is distorted by the Rayleigh fading channel coefficient g and Additive White Gaussian Noise N.</a:t>
            </a:r>
            <a:endParaRPr lang="en-US" sz="1800" b="1">
              <a:latin typeface="Lato"/>
              <a:ea typeface="Lato"/>
              <a:cs typeface="Lato"/>
            </a:endParaRPr>
          </a:p>
          <a:p>
            <a:pPr algn="just"/>
            <a:r>
              <a:rPr lang="en-US" sz="1800" b="1">
                <a:latin typeface="Lato"/>
                <a:ea typeface="Lato"/>
                <a:cs typeface="Lato"/>
              </a:rPr>
              <a:t>Zero-forcing equalization: </a:t>
            </a:r>
            <a:r>
              <a:rPr lang="en-US" sz="1800">
                <a:latin typeface="Lato"/>
                <a:ea typeface="Lato"/>
                <a:cs typeface="Lato"/>
              </a:rPr>
              <a:t>To recover the signal, the receiver divides the received signal Y by the channel coefficient g to reverse the fading and phase rotation before demodulation.</a:t>
            </a:r>
          </a:p>
          <a:p>
            <a:pPr algn="just"/>
            <a:r>
              <a:rPr lang="en-US" sz="1800" b="1">
                <a:latin typeface="Lato"/>
                <a:ea typeface="Lato"/>
                <a:cs typeface="Lato"/>
              </a:rPr>
              <a:t>Calculates the average BER and theoretical BER</a:t>
            </a:r>
          </a:p>
          <a:p>
            <a:pPr marL="285750" indent="-285750" algn="just">
              <a:buFont typeface="Calibri" panose="020B0604020202020204" pitchFamily="34" charset="0"/>
              <a:buChar char="-"/>
            </a:pPr>
            <a:endParaRPr lang="en-US" sz="1800">
              <a:latin typeface="Lato"/>
              <a:ea typeface="Lato"/>
              <a:cs typeface="Lato"/>
            </a:endParaRPr>
          </a:p>
          <a:p>
            <a:pPr marL="285750" indent="-285750" algn="just">
              <a:buFont typeface="Calibri" panose="020B0604020202020204" pitchFamily="34" charset="0"/>
              <a:buChar char="-"/>
            </a:pPr>
            <a:endParaRPr lang="en-US" sz="1800">
              <a:latin typeface="Lato"/>
              <a:ea typeface="Lato"/>
              <a:cs typeface="Lato"/>
            </a:endParaRPr>
          </a:p>
          <a:p>
            <a:pPr marL="0" indent="0" algn="just">
              <a:buNone/>
            </a:pPr>
            <a:endParaRPr lang="en-US" sz="1800">
              <a:latin typeface="Lato"/>
              <a:ea typeface="Lato"/>
              <a:cs typeface="Lato"/>
            </a:endParaRPr>
          </a:p>
        </p:txBody>
      </p:sp>
      <p:sp>
        <p:nvSpPr>
          <p:cNvPr id="6" name="Slide Number Placeholder 5">
            <a:extLst>
              <a:ext uri="{FF2B5EF4-FFF2-40B4-BE49-F238E27FC236}">
                <a16:creationId xmlns:a16="http://schemas.microsoft.com/office/drawing/2014/main" id="{793956C9-0284-DEAC-681C-B442A79B4BC2}"/>
              </a:ext>
            </a:extLst>
          </p:cNvPr>
          <p:cNvSpPr>
            <a:spLocks noGrp="1"/>
          </p:cNvSpPr>
          <p:nvPr>
            <p:ph type="sldNum" sz="quarter" idx="12"/>
          </p:nvPr>
        </p:nvSpPr>
        <p:spPr/>
        <p:txBody>
          <a:bodyPr/>
          <a:lstStyle/>
          <a:p>
            <a:fld id="{9EA0BE3B-158A-4EDF-80DC-E394A0D1600F}" type="slidenum">
              <a:rPr lang="en-US" smtClean="0"/>
              <a:pPr/>
              <a:t>23</a:t>
            </a:fld>
            <a:endParaRPr lang="en-US"/>
          </a:p>
        </p:txBody>
      </p:sp>
      <p:pic>
        <p:nvPicPr>
          <p:cNvPr id="4" name="Picture 3">
            <a:extLst>
              <a:ext uri="{FF2B5EF4-FFF2-40B4-BE49-F238E27FC236}">
                <a16:creationId xmlns:a16="http://schemas.microsoft.com/office/drawing/2014/main" id="{E49CA01A-15C5-3143-5871-53DEC0FAE614}"/>
              </a:ext>
            </a:extLst>
          </p:cNvPr>
          <p:cNvPicPr>
            <a:picLocks noChangeAspect="1"/>
          </p:cNvPicPr>
          <p:nvPr/>
        </p:nvPicPr>
        <p:blipFill>
          <a:blip r:embed="rId2"/>
          <a:stretch>
            <a:fillRect/>
          </a:stretch>
        </p:blipFill>
        <p:spPr>
          <a:xfrm>
            <a:off x="7788544" y="903659"/>
            <a:ext cx="2958292" cy="3071523"/>
          </a:xfrm>
          <a:prstGeom prst="rect">
            <a:avLst/>
          </a:prstGeom>
        </p:spPr>
      </p:pic>
      <p:pic>
        <p:nvPicPr>
          <p:cNvPr id="5" name="Picture 4" descr="A diagram of a flowchart&#10;&#10;AI-generated content may be incorrect.">
            <a:extLst>
              <a:ext uri="{FF2B5EF4-FFF2-40B4-BE49-F238E27FC236}">
                <a16:creationId xmlns:a16="http://schemas.microsoft.com/office/drawing/2014/main" id="{659FFCE9-888D-D8A0-96A2-B98D3BD100F2}"/>
              </a:ext>
            </a:extLst>
          </p:cNvPr>
          <p:cNvPicPr>
            <a:picLocks noChangeAspect="1"/>
          </p:cNvPicPr>
          <p:nvPr/>
        </p:nvPicPr>
        <p:blipFill>
          <a:blip r:embed="rId3"/>
          <a:stretch>
            <a:fillRect/>
          </a:stretch>
        </p:blipFill>
        <p:spPr>
          <a:xfrm>
            <a:off x="560304" y="3743660"/>
            <a:ext cx="6452602" cy="2846471"/>
          </a:xfrm>
          <a:prstGeom prst="rect">
            <a:avLst/>
          </a:prstGeom>
        </p:spPr>
      </p:pic>
    </p:spTree>
    <p:extLst>
      <p:ext uri="{BB962C8B-B14F-4D97-AF65-F5344CB8AC3E}">
        <p14:creationId xmlns:p14="http://schemas.microsoft.com/office/powerpoint/2010/main" val="2329409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14F1B-2D34-636F-9ED8-6FDC7D67A7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2C82D-9313-0BE5-B3B7-83354B85D559}"/>
              </a:ext>
            </a:extLst>
          </p:cNvPr>
          <p:cNvSpPr>
            <a:spLocks noGrp="1"/>
          </p:cNvSpPr>
          <p:nvPr>
            <p:ph type="title"/>
          </p:nvPr>
        </p:nvSpPr>
        <p:spPr/>
        <p:txBody>
          <a:bodyPr lIns="91440" tIns="45720" rIns="91440" bIns="45720" anchor="t"/>
          <a:lstStyle/>
          <a:p>
            <a:r>
              <a:rPr lang="en-US">
                <a:latin typeface="Lato"/>
                <a:ea typeface="Lato"/>
                <a:cs typeface="Lato"/>
              </a:rPr>
              <a:t>3. Experimental results</a:t>
            </a:r>
            <a:endParaRPr lang="en-US"/>
          </a:p>
        </p:txBody>
      </p:sp>
      <p:sp>
        <p:nvSpPr>
          <p:cNvPr id="6" name="Slide Number Placeholder 5">
            <a:extLst>
              <a:ext uri="{FF2B5EF4-FFF2-40B4-BE49-F238E27FC236}">
                <a16:creationId xmlns:a16="http://schemas.microsoft.com/office/drawing/2014/main" id="{5A863309-C339-1D3D-9498-5C2D485366C6}"/>
              </a:ext>
            </a:extLst>
          </p:cNvPr>
          <p:cNvSpPr>
            <a:spLocks noGrp="1"/>
          </p:cNvSpPr>
          <p:nvPr>
            <p:ph type="sldNum" sz="quarter" idx="12"/>
          </p:nvPr>
        </p:nvSpPr>
        <p:spPr/>
        <p:txBody>
          <a:bodyPr/>
          <a:lstStyle/>
          <a:p>
            <a:fld id="{9EA0BE3B-158A-4EDF-80DC-E394A0D1600F}" type="slidenum">
              <a:rPr lang="en-US" smtClean="0"/>
              <a:pPr/>
              <a:t>24</a:t>
            </a:fld>
            <a:endParaRPr lang="en-US"/>
          </a:p>
        </p:txBody>
      </p:sp>
      <p:pic>
        <p:nvPicPr>
          <p:cNvPr id="3" name="Picture 2">
            <a:extLst>
              <a:ext uri="{FF2B5EF4-FFF2-40B4-BE49-F238E27FC236}">
                <a16:creationId xmlns:a16="http://schemas.microsoft.com/office/drawing/2014/main" id="{EE4F498B-B118-C02C-3FBE-D78A2B403194}"/>
              </a:ext>
            </a:extLst>
          </p:cNvPr>
          <p:cNvPicPr>
            <a:picLocks noChangeAspect="1"/>
          </p:cNvPicPr>
          <p:nvPr/>
        </p:nvPicPr>
        <p:blipFill>
          <a:blip r:embed="rId2"/>
          <a:stretch>
            <a:fillRect/>
          </a:stretch>
        </p:blipFill>
        <p:spPr>
          <a:xfrm>
            <a:off x="1971784" y="936171"/>
            <a:ext cx="8248432" cy="5421086"/>
          </a:xfrm>
          <a:prstGeom prst="rect">
            <a:avLst/>
          </a:prstGeom>
        </p:spPr>
      </p:pic>
    </p:spTree>
    <p:extLst>
      <p:ext uri="{BB962C8B-B14F-4D97-AF65-F5344CB8AC3E}">
        <p14:creationId xmlns:p14="http://schemas.microsoft.com/office/powerpoint/2010/main" val="1184941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B68F-39B1-8F66-D4C6-DC0DAA426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9C767-391C-E329-ED0F-52DB214F3256}"/>
              </a:ext>
            </a:extLst>
          </p:cNvPr>
          <p:cNvSpPr>
            <a:spLocks noGrp="1"/>
          </p:cNvSpPr>
          <p:nvPr>
            <p:ph type="title"/>
          </p:nvPr>
        </p:nvSpPr>
        <p:spPr/>
        <p:txBody>
          <a:bodyPr lIns="91440" tIns="45720" rIns="91440" bIns="45720" anchor="t"/>
          <a:lstStyle/>
          <a:p>
            <a:r>
              <a:rPr lang="en-US">
                <a:latin typeface="Lato"/>
                <a:ea typeface="Lato"/>
                <a:cs typeface="Lato"/>
              </a:rPr>
              <a:t>3. Experimental results</a:t>
            </a:r>
            <a:endParaRPr lang="en-US"/>
          </a:p>
        </p:txBody>
      </p:sp>
      <p:sp>
        <p:nvSpPr>
          <p:cNvPr id="6" name="Slide Number Placeholder 5">
            <a:extLst>
              <a:ext uri="{FF2B5EF4-FFF2-40B4-BE49-F238E27FC236}">
                <a16:creationId xmlns:a16="http://schemas.microsoft.com/office/drawing/2014/main" id="{281BA239-175F-EFBF-3962-1609C0A51D0A}"/>
              </a:ext>
            </a:extLst>
          </p:cNvPr>
          <p:cNvSpPr>
            <a:spLocks noGrp="1"/>
          </p:cNvSpPr>
          <p:nvPr>
            <p:ph type="sldNum" sz="quarter" idx="12"/>
          </p:nvPr>
        </p:nvSpPr>
        <p:spPr/>
        <p:txBody>
          <a:bodyPr/>
          <a:lstStyle/>
          <a:p>
            <a:fld id="{9EA0BE3B-158A-4EDF-80DC-E394A0D1600F}" type="slidenum">
              <a:rPr lang="en-US" smtClean="0"/>
              <a:pPr/>
              <a:t>25</a:t>
            </a:fld>
            <a:endParaRPr lang="en-US"/>
          </a:p>
        </p:txBody>
      </p:sp>
      <p:pic>
        <p:nvPicPr>
          <p:cNvPr id="4" name="Picture 3" descr="A graph of a line&#10;&#10;AI-generated content may be incorrect.">
            <a:extLst>
              <a:ext uri="{FF2B5EF4-FFF2-40B4-BE49-F238E27FC236}">
                <a16:creationId xmlns:a16="http://schemas.microsoft.com/office/drawing/2014/main" id="{70E55D09-8D3A-C3BC-5BD6-0CD55CFD8D10}"/>
              </a:ext>
            </a:extLst>
          </p:cNvPr>
          <p:cNvPicPr>
            <a:picLocks noChangeAspect="1"/>
          </p:cNvPicPr>
          <p:nvPr/>
        </p:nvPicPr>
        <p:blipFill>
          <a:blip r:embed="rId2"/>
          <a:stretch>
            <a:fillRect/>
          </a:stretch>
        </p:blipFill>
        <p:spPr>
          <a:xfrm>
            <a:off x="1621467" y="902756"/>
            <a:ext cx="8197834" cy="5383351"/>
          </a:xfrm>
          <a:prstGeom prst="rect">
            <a:avLst/>
          </a:prstGeom>
        </p:spPr>
      </p:pic>
    </p:spTree>
    <p:extLst>
      <p:ext uri="{BB962C8B-B14F-4D97-AF65-F5344CB8AC3E}">
        <p14:creationId xmlns:p14="http://schemas.microsoft.com/office/powerpoint/2010/main" val="1383082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66ED5-20C1-6183-81D9-F38E9C85D313}"/>
              </a:ext>
            </a:extLst>
          </p:cNvPr>
          <p:cNvSpPr>
            <a:spLocks noGrp="1"/>
          </p:cNvSpPr>
          <p:nvPr>
            <p:ph type="title"/>
          </p:nvPr>
        </p:nvSpPr>
        <p:spPr/>
        <p:txBody>
          <a:bodyPr lIns="91440" tIns="45720" rIns="91440" bIns="45720" anchor="t"/>
          <a:lstStyle/>
          <a:p>
            <a:r>
              <a:rPr lang="en-US"/>
              <a:t>3. Experimental results</a:t>
            </a:r>
            <a:endParaRPr lang="en-US" b="0">
              <a:solidFill>
                <a:srgbClr val="000000"/>
              </a:solidFill>
            </a:endParaRPr>
          </a:p>
          <a:p>
            <a:endParaRPr lang="en-US"/>
          </a:p>
        </p:txBody>
      </p:sp>
      <p:sp>
        <p:nvSpPr>
          <p:cNvPr id="3" name="Text Placeholder 2">
            <a:extLst>
              <a:ext uri="{FF2B5EF4-FFF2-40B4-BE49-F238E27FC236}">
                <a16:creationId xmlns:a16="http://schemas.microsoft.com/office/drawing/2014/main" id="{5C12467C-ACAF-730E-B2EF-AA3257268D83}"/>
              </a:ext>
            </a:extLst>
          </p:cNvPr>
          <p:cNvSpPr>
            <a:spLocks noGrp="1"/>
          </p:cNvSpPr>
          <p:nvPr>
            <p:ph type="body" sz="quarter" idx="13"/>
          </p:nvPr>
        </p:nvSpPr>
        <p:spPr/>
        <p:txBody>
          <a:bodyPr/>
          <a:lstStyle/>
          <a:p>
            <a:endParaRPr lang="en-US"/>
          </a:p>
        </p:txBody>
      </p:sp>
      <p:sp>
        <p:nvSpPr>
          <p:cNvPr id="4" name="Slide Number Placeholder 3">
            <a:extLst>
              <a:ext uri="{FF2B5EF4-FFF2-40B4-BE49-F238E27FC236}">
                <a16:creationId xmlns:a16="http://schemas.microsoft.com/office/drawing/2014/main" id="{D95B9254-1A23-6066-44CF-3D35FB2BE2B1}"/>
              </a:ext>
            </a:extLst>
          </p:cNvPr>
          <p:cNvSpPr>
            <a:spLocks noGrp="1"/>
          </p:cNvSpPr>
          <p:nvPr>
            <p:ph type="sldNum" sz="quarter" idx="12"/>
          </p:nvPr>
        </p:nvSpPr>
        <p:spPr/>
        <p:txBody>
          <a:bodyPr/>
          <a:lstStyle/>
          <a:p>
            <a:fld id="{9EA0BE3B-158A-4EDF-80DC-E394A0D1600F}" type="slidenum">
              <a:rPr lang="en-US" smtClean="0"/>
              <a:pPr/>
              <a:t>26</a:t>
            </a:fld>
            <a:endParaRPr lang="en-US"/>
          </a:p>
        </p:txBody>
      </p:sp>
      <p:pic>
        <p:nvPicPr>
          <p:cNvPr id="7" name="Picture 6" descr="A graph with red line&#10;&#10;AI-generated content may be incorrect.">
            <a:extLst>
              <a:ext uri="{FF2B5EF4-FFF2-40B4-BE49-F238E27FC236}">
                <a16:creationId xmlns:a16="http://schemas.microsoft.com/office/drawing/2014/main" id="{A3B97365-7DC8-302E-1CC5-4A98F563DF77}"/>
              </a:ext>
            </a:extLst>
          </p:cNvPr>
          <p:cNvPicPr>
            <a:picLocks noChangeAspect="1"/>
          </p:cNvPicPr>
          <p:nvPr/>
        </p:nvPicPr>
        <p:blipFill>
          <a:blip r:embed="rId2"/>
          <a:stretch>
            <a:fillRect/>
          </a:stretch>
        </p:blipFill>
        <p:spPr>
          <a:xfrm>
            <a:off x="1502558" y="852063"/>
            <a:ext cx="9195745" cy="5511210"/>
          </a:xfrm>
          <a:prstGeom prst="rect">
            <a:avLst/>
          </a:prstGeom>
        </p:spPr>
      </p:pic>
    </p:spTree>
    <p:extLst>
      <p:ext uri="{BB962C8B-B14F-4D97-AF65-F5344CB8AC3E}">
        <p14:creationId xmlns:p14="http://schemas.microsoft.com/office/powerpoint/2010/main" val="2560176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70F4D-681A-0DE9-57E0-32BA7E1BC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B6AC1-72EB-96BB-9E54-A4C3931725C4}"/>
              </a:ext>
            </a:extLst>
          </p:cNvPr>
          <p:cNvSpPr>
            <a:spLocks noGrp="1"/>
          </p:cNvSpPr>
          <p:nvPr>
            <p:ph type="title"/>
          </p:nvPr>
        </p:nvSpPr>
        <p:spPr/>
        <p:txBody>
          <a:bodyPr lIns="91440" tIns="45720" rIns="91440" bIns="45720" anchor="t"/>
          <a:lstStyle/>
          <a:p>
            <a:r>
              <a:rPr lang="en-US">
                <a:latin typeface="Lato"/>
                <a:ea typeface="Lato"/>
                <a:cs typeface="Lato"/>
              </a:rPr>
              <a:t>4. Conclusion</a:t>
            </a:r>
            <a:endParaRPr lang="en-US"/>
          </a:p>
          <a:p>
            <a:endParaRPr lang="en-US"/>
          </a:p>
        </p:txBody>
      </p:sp>
      <p:sp>
        <p:nvSpPr>
          <p:cNvPr id="3" name="Text Placeholder 2">
            <a:extLst>
              <a:ext uri="{FF2B5EF4-FFF2-40B4-BE49-F238E27FC236}">
                <a16:creationId xmlns:a16="http://schemas.microsoft.com/office/drawing/2014/main" id="{980AB87D-922D-C69D-3053-3CC29FBC1B4C}"/>
              </a:ext>
            </a:extLst>
          </p:cNvPr>
          <p:cNvSpPr>
            <a:spLocks noGrp="1"/>
          </p:cNvSpPr>
          <p:nvPr>
            <p:ph type="body" sz="quarter" idx="13"/>
          </p:nvPr>
        </p:nvSpPr>
        <p:spPr/>
        <p:txBody>
          <a:bodyPr lIns="91440" tIns="45720" rIns="91440" bIns="45720" anchor="t"/>
          <a:lstStyle/>
          <a:p>
            <a:r>
              <a:rPr lang="en-US" b="1">
                <a:latin typeface="Lato"/>
                <a:ea typeface="Lato"/>
                <a:cs typeface="Lato"/>
              </a:rPr>
              <a:t>General trend:</a:t>
            </a:r>
            <a:r>
              <a:rPr lang="en-US">
                <a:latin typeface="Lato"/>
                <a:ea typeface="Lato"/>
                <a:cs typeface="Lato"/>
              </a:rPr>
              <a:t> Across all channel conditions, an increase in SNR consistently results in a lower BER.</a:t>
            </a:r>
          </a:p>
          <a:p>
            <a:r>
              <a:rPr lang="en-US" b="1">
                <a:latin typeface="Lato"/>
                <a:ea typeface="Lato"/>
                <a:cs typeface="Lato"/>
              </a:rPr>
              <a:t>AWGN Channel (Ideal):</a:t>
            </a:r>
            <a:r>
              <a:rPr lang="en-US">
                <a:latin typeface="Lato"/>
                <a:ea typeface="Lato"/>
                <a:cs typeface="Lato"/>
              </a:rPr>
              <a:t> Demonstrates the best performance with an exponential decrease in BER as SNR improves, serving as the theoretical baseline.</a:t>
            </a:r>
          </a:p>
          <a:p>
            <a:r>
              <a:rPr lang="en-US" b="1">
                <a:latin typeface="Lato"/>
                <a:ea typeface="Lato"/>
                <a:cs typeface="Lato"/>
              </a:rPr>
              <a:t>Rayleigh Fading Channel:</a:t>
            </a:r>
            <a:r>
              <a:rPr lang="en-US">
                <a:latin typeface="Lato"/>
                <a:ea typeface="Lato"/>
                <a:cs typeface="Lato"/>
              </a:rPr>
              <a:t> Suffers severe performance degradation due to multipath fading. The BER drops much slower compared to AWGN.</a:t>
            </a:r>
          </a:p>
          <a:p>
            <a:r>
              <a:rPr lang="en-US" b="1">
                <a:latin typeface="Lato"/>
                <a:ea typeface="Lato"/>
                <a:cs typeface="Lato"/>
              </a:rPr>
              <a:t>LDPC codes:  </a:t>
            </a:r>
            <a:r>
              <a:rPr lang="en-US">
                <a:latin typeface="Lato"/>
                <a:ea typeface="Lato"/>
                <a:cs typeface="Lato"/>
              </a:rPr>
              <a:t>Reduce BER to 0 with relatively low SNR (10 dB) even being affected of Rayleigh Fading Channel.</a:t>
            </a:r>
            <a:endParaRPr lang="en-US"/>
          </a:p>
        </p:txBody>
      </p:sp>
      <p:sp>
        <p:nvSpPr>
          <p:cNvPr id="4" name="Slide Number Placeholder 3">
            <a:extLst>
              <a:ext uri="{FF2B5EF4-FFF2-40B4-BE49-F238E27FC236}">
                <a16:creationId xmlns:a16="http://schemas.microsoft.com/office/drawing/2014/main" id="{E265E4B4-1BAA-A4B3-D9C5-221DFDDFD430}"/>
              </a:ext>
            </a:extLst>
          </p:cNvPr>
          <p:cNvSpPr>
            <a:spLocks noGrp="1"/>
          </p:cNvSpPr>
          <p:nvPr>
            <p:ph type="sldNum" sz="quarter" idx="12"/>
          </p:nvPr>
        </p:nvSpPr>
        <p:spPr/>
        <p:txBody>
          <a:bodyPr/>
          <a:lstStyle/>
          <a:p>
            <a:fld id="{9EA0BE3B-158A-4EDF-80DC-E394A0D1600F}" type="slidenum">
              <a:rPr lang="en-US" smtClean="0"/>
              <a:pPr/>
              <a:t>27</a:t>
            </a:fld>
            <a:endParaRPr lang="en-US"/>
          </a:p>
        </p:txBody>
      </p:sp>
    </p:spTree>
    <p:extLst>
      <p:ext uri="{BB962C8B-B14F-4D97-AF65-F5344CB8AC3E}">
        <p14:creationId xmlns:p14="http://schemas.microsoft.com/office/powerpoint/2010/main" val="3823870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28</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4770848-7955-4ec6-9f06-ace3904740ab" xsi:nil="true"/>
    <lcf76f155ced4ddcb4097134ff3c332f xmlns="757826ba-dfa3-48aa-98b2-1e988427fee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B19AD86CDF2D4DBF9DAD694EFBC09D" ma:contentTypeVersion="11" ma:contentTypeDescription="Create a new document." ma:contentTypeScope="" ma:versionID="2579fa6cef98920c87211c8e153bf705">
  <xsd:schema xmlns:xsd="http://www.w3.org/2001/XMLSchema" xmlns:xs="http://www.w3.org/2001/XMLSchema" xmlns:p="http://schemas.microsoft.com/office/2006/metadata/properties" xmlns:ns2="757826ba-dfa3-48aa-98b2-1e988427fee5" xmlns:ns3="e4770848-7955-4ec6-9f06-ace3904740ab" targetNamespace="http://schemas.microsoft.com/office/2006/metadata/properties" ma:root="true" ma:fieldsID="4b094dc0bbe60f72caa32a125020a3ed" ns2:_="" ns3:_="">
    <xsd:import namespace="757826ba-dfa3-48aa-98b2-1e988427fee5"/>
    <xsd:import namespace="e4770848-7955-4ec6-9f06-ace3904740ab"/>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7826ba-dfa3-48aa-98b2-1e988427fe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770848-7955-4ec6-9f06-ace3904740a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c5bd87d-ca3e-45cd-96bf-7081b76687c3}" ma:internalName="TaxCatchAll" ma:showField="CatchAllData" ma:web="e4770848-7955-4ec6-9f06-ace3904740ab">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C316FA-151E-4EDB-9E09-98DAB3D0971A}">
  <ds:schemaRefs>
    <ds:schemaRef ds:uri="757826ba-dfa3-48aa-98b2-1e988427fee5"/>
    <ds:schemaRef ds:uri="e4770848-7955-4ec6-9f06-ace3904740a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4D971-5E4A-4DCB-9925-F7DA6878D485}">
  <ds:schemaRefs>
    <ds:schemaRef ds:uri="http://schemas.microsoft.com/sharepoint/v3/contenttype/forms"/>
  </ds:schemaRefs>
</ds:datastoreItem>
</file>

<file path=customXml/itemProps3.xml><?xml version="1.0" encoding="utf-8"?>
<ds:datastoreItem xmlns:ds="http://schemas.openxmlformats.org/officeDocument/2006/customXml" ds:itemID="{FE8E8FD2-24CE-470F-83F0-8D25BCB3978F}">
  <ds:schemaRefs>
    <ds:schemaRef ds:uri="757826ba-dfa3-48aa-98b2-1e988427fee5"/>
    <ds:schemaRef ds:uri="e4770848-7955-4ec6-9f06-ace3904740a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28</Slides>
  <Notes>0</Notes>
  <HiddenSlides>0</HiddenSlide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CONTENT</vt:lpstr>
      <vt:lpstr>INTRODUCTION</vt:lpstr>
      <vt:lpstr>INTRODUCTION</vt:lpstr>
      <vt:lpstr>2. METHOD</vt:lpstr>
      <vt:lpstr>2. METHOD </vt:lpstr>
      <vt:lpstr>2. METHOD </vt:lpstr>
      <vt:lpstr>2. METHOD </vt:lpstr>
      <vt:lpstr>2. METHOD </vt:lpstr>
      <vt:lpstr>2. METHOD   </vt:lpstr>
      <vt:lpstr>2. METHOD  </vt:lpstr>
      <vt:lpstr>2. METHOD </vt:lpstr>
      <vt:lpstr>2. METHOD </vt:lpstr>
      <vt:lpstr>2. METHOD</vt:lpstr>
      <vt:lpstr>2. METHOD</vt:lpstr>
      <vt:lpstr>2. METHOD</vt:lpstr>
      <vt:lpstr>2. METHOD</vt:lpstr>
      <vt:lpstr>2. METHOD</vt:lpstr>
      <vt:lpstr>2. METHOD</vt:lpstr>
      <vt:lpstr>2. METHOD</vt:lpstr>
      <vt:lpstr>2. METHOD</vt:lpstr>
      <vt:lpstr>3. Experimental results</vt:lpstr>
      <vt:lpstr>3. Experimental results</vt:lpstr>
      <vt:lpstr>3. Experimental results </vt:lpstr>
      <vt:lpstr>4.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revision>51</cp:revision>
  <dcterms:created xsi:type="dcterms:W3CDTF">2021-05-28T04:32:29Z</dcterms:created>
  <dcterms:modified xsi:type="dcterms:W3CDTF">2026-06-02T05:58:08Z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0x010100ECB19AD86CDF2D4DBF9DAD694EFBC09D</vt:lpwstr>
  </property>
  <property fmtid="{D5CDD505-2E9C-101B-9397-08002B2CF9AE}" pid="3" name="MediaServiceImageTags">
    <vt:lpwstr/>
  </property>
</Properties>
</file>